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+fcRNEf0yCASz7dtdNBLmjpzr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spPr>
            <a:solidFill>
              <a:srgbClr val="1A6B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4F8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Y1 (2026)</c:v>
                  </c:pt>
                  <c:pt idx="1">
                    <c:v>Y2 (2027)</c:v>
                  </c:pt>
                  <c:pt idx="2">
                    <c:v>Y3 (2028)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250</c:v>
                </c:pt>
                <c:pt idx="2">
                  <c:v>850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F4F8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8E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"/>
        </c:scaling>
        <c:delete val="0"/>
        <c:axPos val="l"/>
        <c:majorGridlines>
          <c:spPr>
            <a:ln w="635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A85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B8C8E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B8C8E0"/>
                </a:solidFill>
                <a:latin typeface="Arial"/>
              </a:rPr>
              <a:t>Use of Funds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6BFF"/>
              </a:solidFill>
              <a:effectLst/>
            </c:spPr>
          </c:dPt>
          <c:dPt>
            <c:idx val="1"/>
            <c:bubble3D val="0"/>
            <c:spPr>
              <a:solidFill>
                <a:srgbClr val="00D4FF"/>
              </a:solidFill>
              <a:effectLst/>
            </c:spPr>
          </c:dPt>
          <c:dPt>
            <c:idx val="2"/>
            <c:bubble3D val="0"/>
            <c:spPr>
              <a:solidFill>
                <a:srgbClr val="00D97E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Engineering</c:v>
                </c:pt>
                <c:pt idx="1">
                  <c:v>Marketing &amp; Growth</c:v>
                </c:pt>
                <c:pt idx="2">
                  <c:v>Infrastructure</c:v>
                </c:pt>
                <c:pt idx="3">
                  <c:v>Operations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50</c:v>
                </c:pt>
                <c:pt idx="1">
                  <c:v>25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B8C8E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2" name="Google Shape;54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rive.google.com/open?id=1YEVP3mpakhqXVxThFRN3cqd5rBEuxX9x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C1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1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" name="Google Shape;17;p1"/>
          <p:cNvCxnSpPr/>
          <p:nvPr/>
        </p:nvCxnSpPr>
        <p:spPr>
          <a:xfrm>
            <a:off x="5486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1"/>
          <p:cNvCxnSpPr/>
          <p:nvPr/>
        </p:nvCxnSpPr>
        <p:spPr>
          <a:xfrm>
            <a:off x="10972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1"/>
          <p:cNvCxnSpPr/>
          <p:nvPr/>
        </p:nvCxnSpPr>
        <p:spPr>
          <a:xfrm>
            <a:off x="16459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p1"/>
          <p:cNvCxnSpPr/>
          <p:nvPr/>
        </p:nvCxnSpPr>
        <p:spPr>
          <a:xfrm>
            <a:off x="21945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p1"/>
          <p:cNvCxnSpPr/>
          <p:nvPr/>
        </p:nvCxnSpPr>
        <p:spPr>
          <a:xfrm>
            <a:off x="2743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1"/>
          <p:cNvCxnSpPr/>
          <p:nvPr/>
        </p:nvCxnSpPr>
        <p:spPr>
          <a:xfrm>
            <a:off x="32918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1"/>
          <p:cNvCxnSpPr/>
          <p:nvPr/>
        </p:nvCxnSpPr>
        <p:spPr>
          <a:xfrm>
            <a:off x="38404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1"/>
          <p:cNvCxnSpPr/>
          <p:nvPr/>
        </p:nvCxnSpPr>
        <p:spPr>
          <a:xfrm>
            <a:off x="43891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1"/>
          <p:cNvCxnSpPr/>
          <p:nvPr/>
        </p:nvCxnSpPr>
        <p:spPr>
          <a:xfrm>
            <a:off x="49377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p1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" name="Google Shape;27;p1"/>
          <p:cNvCxnSpPr/>
          <p:nvPr/>
        </p:nvCxnSpPr>
        <p:spPr>
          <a:xfrm>
            <a:off x="60350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" name="Google Shape;28;p1"/>
          <p:cNvCxnSpPr/>
          <p:nvPr/>
        </p:nvCxnSpPr>
        <p:spPr>
          <a:xfrm>
            <a:off x="65836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" name="Google Shape;29;p1"/>
          <p:cNvCxnSpPr/>
          <p:nvPr/>
        </p:nvCxnSpPr>
        <p:spPr>
          <a:xfrm>
            <a:off x="71323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1"/>
          <p:cNvCxnSpPr/>
          <p:nvPr/>
        </p:nvCxnSpPr>
        <p:spPr>
          <a:xfrm>
            <a:off x="76809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1"/>
          <p:cNvCxnSpPr/>
          <p:nvPr/>
        </p:nvCxnSpPr>
        <p:spPr>
          <a:xfrm>
            <a:off x="8229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" name="Google Shape;32;p1"/>
          <p:cNvCxnSpPr/>
          <p:nvPr/>
        </p:nvCxnSpPr>
        <p:spPr>
          <a:xfrm>
            <a:off x="87782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" name="Google Shape;33;p1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" name="Google Shape;34;p1"/>
          <p:cNvCxnSpPr/>
          <p:nvPr/>
        </p:nvCxnSpPr>
        <p:spPr>
          <a:xfrm>
            <a:off x="0" y="5486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" name="Google Shape;35;p1"/>
          <p:cNvCxnSpPr/>
          <p:nvPr/>
        </p:nvCxnSpPr>
        <p:spPr>
          <a:xfrm>
            <a:off x="0" y="10972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" name="Google Shape;36;p1"/>
          <p:cNvCxnSpPr/>
          <p:nvPr/>
        </p:nvCxnSpPr>
        <p:spPr>
          <a:xfrm>
            <a:off x="0" y="16459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1"/>
          <p:cNvCxnSpPr/>
          <p:nvPr/>
        </p:nvCxnSpPr>
        <p:spPr>
          <a:xfrm>
            <a:off x="0" y="21945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1"/>
          <p:cNvCxnSpPr/>
          <p:nvPr/>
        </p:nvCxnSpPr>
        <p:spPr>
          <a:xfrm>
            <a:off x="0" y="2743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p1"/>
          <p:cNvCxnSpPr/>
          <p:nvPr/>
        </p:nvCxnSpPr>
        <p:spPr>
          <a:xfrm>
            <a:off x="0" y="32918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" name="Google Shape;40;p1"/>
          <p:cNvCxnSpPr/>
          <p:nvPr/>
        </p:nvCxnSpPr>
        <p:spPr>
          <a:xfrm>
            <a:off x="0" y="38404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" name="Google Shape;41;p1"/>
          <p:cNvCxnSpPr/>
          <p:nvPr/>
        </p:nvCxnSpPr>
        <p:spPr>
          <a:xfrm>
            <a:off x="0" y="43891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" name="Google Shape;42;p1"/>
          <p:cNvCxnSpPr/>
          <p:nvPr/>
        </p:nvCxnSpPr>
        <p:spPr>
          <a:xfrm>
            <a:off x="0" y="49377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p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6BFF"/>
          </a:solidFill>
          <a:ln cap="flat" cmpd="sng" w="12700">
            <a:solidFill>
              <a:srgbClr val="1A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"/>
          <p:cNvSpPr/>
          <p:nvPr/>
        </p:nvSpPr>
        <p:spPr>
          <a:xfrm>
            <a:off x="5029200" y="457200"/>
            <a:ext cx="3657600" cy="3657600"/>
          </a:xfrm>
          <a:prstGeom prst="ellipse">
            <a:avLst/>
          </a:prstGeom>
          <a:solidFill>
            <a:srgbClr val="1A6BFF">
              <a:alpha val="10196"/>
            </a:srgbClr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"/>
          <p:cNvSpPr/>
          <p:nvPr/>
        </p:nvSpPr>
        <p:spPr>
          <a:xfrm rot="2700000">
            <a:off x="6400800" y="1005840"/>
            <a:ext cx="1188720" cy="1188720"/>
          </a:xfrm>
          <a:prstGeom prst="rect">
            <a:avLst/>
          </a:prstGeom>
          <a:solidFill>
            <a:srgbClr val="1A6BFF"/>
          </a:solidFill>
          <a:ln cap="flat" cmpd="sng" w="12700">
            <a:solidFill>
              <a:srgbClr val="4D8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rotWithShape="0" algn="bl" dir="8100000" dist="50800">
              <a:srgbClr val="1A6BFF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"/>
          <p:cNvSpPr/>
          <p:nvPr/>
        </p:nvSpPr>
        <p:spPr>
          <a:xfrm>
            <a:off x="6382512" y="987552"/>
            <a:ext cx="1225296" cy="1225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457200" y="128016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ZYVARON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"/>
          <p:cNvSpPr/>
          <p:nvPr/>
        </p:nvSpPr>
        <p:spPr>
          <a:xfrm>
            <a:off x="457200" y="224028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AUTONOMOUS CYBERSECURITY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457200" y="2724912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Detect. Block. Recover. Automatically.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While you sleep, ZYVARON is fighting for your computer.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457200" y="3931920"/>
            <a:ext cx="1371600" cy="256032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"/>
          <p:cNvSpPr/>
          <p:nvPr/>
        </p:nvSpPr>
        <p:spPr>
          <a:xfrm>
            <a:off x="457200" y="393192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B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SEED ROUND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"/>
          <p:cNvSpPr/>
          <p:nvPr/>
        </p:nvSpPr>
        <p:spPr>
          <a:xfrm>
            <a:off x="2103120" y="3931920"/>
            <a:ext cx="1371600" cy="256032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6A85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"/>
          <p:cNvSpPr/>
          <p:nvPr/>
        </p:nvSpPr>
        <p:spPr>
          <a:xfrm>
            <a:off x="2103120" y="393192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3749040" y="3931920"/>
            <a:ext cx="1371600" cy="256032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"/>
          <p:cNvSpPr/>
          <p:nvPr/>
        </p:nvSpPr>
        <p:spPr>
          <a:xfrm>
            <a:off x="3749040" y="393192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457200" y="43434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Defend Everything.  Recover Anything.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F1F3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"/>
          <p:cNvSpPr/>
          <p:nvPr/>
        </p:nvSpPr>
        <p:spPr>
          <a:xfrm>
            <a:off x="365760" y="491032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ZYVARON  ·  CONFIDENTIAL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8046720" y="4910328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1 / 14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C14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0506">
              <a:alpha val="60000"/>
            </a:srgbClr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457200" y="347472"/>
            <a:ext cx="1211580" cy="237744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466344" y="342900"/>
            <a:ext cx="11932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457200" y="640080"/>
            <a:ext cx="7315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Cyber threats are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constant. Defence isn't.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411480" y="2148840"/>
            <a:ext cx="2651760" cy="2560320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411480" y="2148840"/>
            <a:ext cx="2651760" cy="36576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548640" y="22402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548640" y="278892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Ransomware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548640" y="3063240"/>
            <a:ext cx="23957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Spreads through open ports and unpatched software. Encrypts everything. Demands payment.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548640" y="3703320"/>
            <a:ext cx="23957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$4.5M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548640" y="4123944"/>
            <a:ext cx="23957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avg cost per attack (2024)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3246120" y="2148840"/>
            <a:ext cx="2651760" cy="2560320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3246120" y="2148840"/>
            <a:ext cx="2651760" cy="36576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3383280" y="22402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🚪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3383280" y="278892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Open Attack Ports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3383280" y="3063240"/>
            <a:ext cx="23957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Port 445 (SMB) and 3389 (RDP) sit wide open on most machines. Hackers know this.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3383280" y="3703320"/>
            <a:ext cx="23957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200K+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3383280" y="4123944"/>
            <a:ext cx="23957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computers hit by WannaCry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6080760" y="2148840"/>
            <a:ext cx="2651760" cy="2560320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6B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"/>
          <p:cNvSpPr/>
          <p:nvPr/>
        </p:nvSpPr>
        <p:spPr>
          <a:xfrm>
            <a:off x="6080760" y="2148840"/>
            <a:ext cx="2651760" cy="36576"/>
          </a:xfrm>
          <a:prstGeom prst="rect">
            <a:avLst/>
          </a:prstGeom>
          <a:solidFill>
            <a:srgbClr val="1A6BFF"/>
          </a:solidFill>
          <a:ln cap="flat" cmpd="sng" w="12700">
            <a:solidFill>
              <a:srgbClr val="1A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"/>
          <p:cNvSpPr/>
          <p:nvPr/>
        </p:nvSpPr>
        <p:spPr>
          <a:xfrm>
            <a:off x="6217920" y="22402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🕳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6217920" y="278892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CVE Vulnerabilities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6217920" y="3063240"/>
            <a:ext cx="23957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Every app you use has known security holes. Most users never patch them.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6217920" y="3703320"/>
            <a:ext cx="23957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29,000+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6217920" y="4123944"/>
            <a:ext cx="23957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new CVEs published in 2024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F1F3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"/>
          <p:cNvSpPr/>
          <p:nvPr/>
        </p:nvSpPr>
        <p:spPr>
          <a:xfrm>
            <a:off x="365760" y="491032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ZYVARON  ·  CONFIDENTIAL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8046720" y="4910328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2 / 14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C14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/>
          <p:nvPr/>
        </p:nvSpPr>
        <p:spPr>
          <a:xfrm>
            <a:off x="4754880" y="-457200"/>
            <a:ext cx="5029200" cy="5029200"/>
          </a:xfrm>
          <a:prstGeom prst="ellipse">
            <a:avLst/>
          </a:prstGeom>
          <a:solidFill>
            <a:srgbClr val="1A6BFF">
              <a:alpha val="7843"/>
            </a:srgbClr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457200" y="347472"/>
            <a:ext cx="1298448" cy="237744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466344" y="342900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THE SOLUTION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457200" y="658368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Meet ZYVARON.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457200" y="1463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Your computer's invisible, tireless bodyguard.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457200" y="2011680"/>
            <a:ext cx="1965960" cy="2606040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457200" y="2011680"/>
            <a:ext cx="1965960" cy="36576"/>
          </a:xfrm>
          <a:prstGeom prst="rect">
            <a:avLst/>
          </a:prstGeom>
          <a:solidFill>
            <a:srgbClr val="1A6BFF"/>
          </a:solidFill>
          <a:ln cap="flat" cmpd="sng" w="12700">
            <a:solidFill>
              <a:srgbClr val="1A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566928" y="2121408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566928" y="26060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DETECT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566928" y="2926080"/>
            <a:ext cx="1737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10,000 ports + every file scanned every 60 seconds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2606040" y="2011680"/>
            <a:ext cx="1965960" cy="2606040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2606040" y="2011680"/>
            <a:ext cx="1965960" cy="36576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2715768" y="2121408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2715768" y="26060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BLOCK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2715768" y="2926080"/>
            <a:ext cx="1737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Dangerous ports slammed shut via Windows Firewall in &lt;4s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4754880" y="2011680"/>
            <a:ext cx="1965960" cy="2606040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4754880" y="2011680"/>
            <a:ext cx="1965960" cy="36576"/>
          </a:xfrm>
          <a:prstGeom prst="rect">
            <a:avLst/>
          </a:prstGeom>
          <a:solidFill>
            <a:srgbClr val="00D97E"/>
          </a:solidFill>
          <a:ln cap="flat" cmpd="sng" w="12700">
            <a:solidFill>
              <a:srgbClr val="00D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4864608" y="2121408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D97E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4864608" y="26060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RECOVER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4864608" y="2926080"/>
            <a:ext cx="1737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Deleted files restored from secure vault in ~30 seconds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6903720" y="2011680"/>
            <a:ext cx="1965960" cy="2606040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6903720" y="2011680"/>
            <a:ext cx="1965960" cy="36576"/>
          </a:xfrm>
          <a:prstGeom prst="rect">
            <a:avLst/>
          </a:prstGeom>
          <a:solidFill>
            <a:srgbClr val="A855F7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7013448" y="2121408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7013448" y="26060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REPORT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7013448" y="2926080"/>
            <a:ext cx="1737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Live dashboard shows every action, alert and CVE in real time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F1F3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"/>
          <p:cNvSpPr/>
          <p:nvPr/>
        </p:nvSpPr>
        <p:spPr>
          <a:xfrm>
            <a:off x="365760" y="491032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ZYVARON  ·  CONFIDENTIAL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8046720" y="4910328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3 / 14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C14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/>
          <p:nvPr/>
        </p:nvSpPr>
        <p:spPr>
          <a:xfrm>
            <a:off x="457200" y="320040"/>
            <a:ext cx="864108" cy="237744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466344" y="315468"/>
            <a:ext cx="8458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57200" y="621792"/>
            <a:ext cx="5943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Real results. First run.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411480" y="1417320"/>
            <a:ext cx="4389120" cy="3337560"/>
          </a:xfrm>
          <a:prstGeom prst="rect">
            <a:avLst/>
          </a:prstGeom>
          <a:solidFill>
            <a:srgbClr val="050D14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411480" y="1417320"/>
            <a:ext cx="4389120" cy="320040"/>
          </a:xfrm>
          <a:prstGeom prst="rect">
            <a:avLst/>
          </a:prstGeom>
          <a:solidFill>
            <a:srgbClr val="0F1F38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585216" y="1545336"/>
            <a:ext cx="91440" cy="9144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786384" y="1545336"/>
            <a:ext cx="91440" cy="914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987552" y="1545336"/>
            <a:ext cx="91440" cy="91440"/>
          </a:xfrm>
          <a:prstGeom prst="ellipse">
            <a:avLst/>
          </a:prstGeom>
          <a:solidFill>
            <a:srgbClr val="00D97E"/>
          </a:solidFill>
          <a:ln cap="flat" cmpd="sng" w="12700">
            <a:solidFill>
              <a:srgbClr val="00D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1417320" y="14813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ZYVARON AGENT — LIVE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548640" y="1874520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→ Agent v0.3.0 starting...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548640" y="2130552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7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0D97E"/>
                </a:solidFill>
                <a:latin typeface="Calibri"/>
                <a:ea typeface="Calibri"/>
                <a:cs typeface="Calibri"/>
                <a:sym typeface="Calibri"/>
              </a:rPr>
              <a:t>✓ 11 files indexed  |  Snapshot created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548640" y="2386584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→ Port scan: 10,000 ports...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548640" y="2642616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⚠  CRITICAL: Port 445 (SMB) — EternalBlue!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548640" y="2898648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⚠  HIGH: Port 3389 (RDP) — brute force risk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548640" y="3154680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→ Creating rule: ZYVARON-BLOCK-SMB-445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548640" y="3410712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7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0D97E"/>
                </a:solidFill>
                <a:latin typeface="Calibri"/>
                <a:ea typeface="Calibri"/>
                <a:cs typeface="Calibri"/>
                <a:sym typeface="Calibri"/>
              </a:rPr>
              <a:t>✓ Port 445 BLOCKED — rule permanent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548640" y="3666744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→ Creating rule: ZYVARON-BLOCK-RDP-3389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548640" y="3922776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7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0D97E"/>
                </a:solidFill>
                <a:latin typeface="Calibri"/>
                <a:ea typeface="Calibri"/>
                <a:cs typeface="Calibri"/>
                <a:sym typeface="Calibri"/>
              </a:rPr>
              <a:t>✓ Port 3389 BLOCKED — rule permanent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548640" y="4178808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7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0D97E"/>
                </a:solidFill>
                <a:latin typeface="Calibri"/>
                <a:ea typeface="Calibri"/>
                <a:cs typeface="Calibri"/>
                <a:sym typeface="Calibri"/>
              </a:rPr>
              <a:t>✓ 2 threats neutralised  |  0 active alerts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548640" y="4434840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⚡ Time elapsed: 3.8 seconds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5120640" y="1481328"/>
            <a:ext cx="3566160" cy="676656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00D97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5120640" y="1481328"/>
            <a:ext cx="45720" cy="676656"/>
          </a:xfrm>
          <a:prstGeom prst="rect">
            <a:avLst/>
          </a:prstGeom>
          <a:solidFill>
            <a:srgbClr val="00D97E"/>
          </a:solidFill>
          <a:ln cap="flat" cmpd="sng" w="12700">
            <a:solidFill>
              <a:srgbClr val="00D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5303520" y="1527048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7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0D97E"/>
                </a:solidFill>
                <a:latin typeface="Calibri"/>
                <a:ea typeface="Calibri"/>
                <a:cs typeface="Calibri"/>
                <a:sym typeface="Calibri"/>
              </a:rPr>
              <a:t>3.8s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5303520" y="1883664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PORT → BLOCKED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5120640" y="2304288"/>
            <a:ext cx="3566160" cy="676656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6BF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5120640" y="2304288"/>
            <a:ext cx="45720" cy="676656"/>
          </a:xfrm>
          <a:prstGeom prst="rect">
            <a:avLst/>
          </a:prstGeom>
          <a:solidFill>
            <a:srgbClr val="1A6BFF"/>
          </a:solidFill>
          <a:ln cap="flat" cmpd="sng" w="12700">
            <a:solidFill>
              <a:srgbClr val="1A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5303520" y="2350008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10K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5303520" y="2706624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PORTS SCANNED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5120640" y="3127248"/>
            <a:ext cx="3566160" cy="676656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5120640" y="3127248"/>
            <a:ext cx="45720" cy="676656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4"/>
          <p:cNvSpPr/>
          <p:nvPr/>
        </p:nvSpPr>
        <p:spPr>
          <a:xfrm>
            <a:off x="5303520" y="3172968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5303520" y="3529584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CVEs FOUND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5120640" y="3950208"/>
            <a:ext cx="3566160" cy="676656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5120640" y="3950208"/>
            <a:ext cx="45720" cy="676656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5303520" y="3995928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~30s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5303520" y="4352544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FILE RECOVERY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F1F3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365760" y="491032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ZYVARON  ·  CONFIDENTIAL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8046720" y="4910328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4 / 14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C14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/>
          <p:nvPr/>
        </p:nvSpPr>
        <p:spPr>
          <a:xfrm>
            <a:off x="457200" y="320040"/>
            <a:ext cx="950976" cy="237744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466344" y="315468"/>
            <a:ext cx="9326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Seven layers of protection.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411480" y="1536192"/>
            <a:ext cx="4206240" cy="987552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411480" y="1536192"/>
            <a:ext cx="36576" cy="987552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521208" y="1700784"/>
            <a:ext cx="402336" cy="402336"/>
          </a:xfrm>
          <a:prstGeom prst="ellipse">
            <a:avLst/>
          </a:prstGeom>
          <a:solidFill>
            <a:srgbClr val="0F1F38"/>
          </a:solidFill>
          <a:ln cap="flat" cmpd="sng" w="95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502920" y="1682496"/>
            <a:ext cx="4389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1051560" y="1609344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Automatic Port Blocker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1051560" y="1865376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Detects &amp; permanently closes 7 dangerous port types via Windows Firewall in &lt;4 seconds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411480" y="2651760"/>
            <a:ext cx="4206240" cy="987552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411480" y="2651760"/>
            <a:ext cx="36576" cy="987552"/>
          </a:xfrm>
          <a:prstGeom prst="rect">
            <a:avLst/>
          </a:prstGeom>
          <a:solidFill>
            <a:srgbClr val="00D97E"/>
          </a:solidFill>
          <a:ln cap="flat" cmpd="sng" w="12700">
            <a:solidFill>
              <a:srgbClr val="00D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521208" y="2816352"/>
            <a:ext cx="402336" cy="402336"/>
          </a:xfrm>
          <a:prstGeom prst="ellipse">
            <a:avLst/>
          </a:prstGeom>
          <a:solidFill>
            <a:srgbClr val="0F1F38"/>
          </a:solidFill>
          <a:ln cap="flat" cmpd="sng" w="9525">
            <a:solidFill>
              <a:srgbClr val="00D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502920" y="2798064"/>
            <a:ext cx="4389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📁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1051560" y="2724912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Filevault</a:t>
            </a:r>
            <a:r>
              <a:rPr b="1" i="0" lang="en-US" sz="11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 &amp; Recovery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1051560" y="2980944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Every file snapshotted every 5 min. SHA-256 verified restore to exact original path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411480" y="3767328"/>
            <a:ext cx="4206240" cy="987552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411480" y="3767328"/>
            <a:ext cx="36576" cy="98755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521208" y="3931920"/>
            <a:ext cx="402336" cy="402336"/>
          </a:xfrm>
          <a:prstGeom prst="ellipse">
            <a:avLst/>
          </a:prstGeom>
          <a:solidFill>
            <a:srgbClr val="0F1F38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502920" y="3913632"/>
            <a:ext cx="4389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1051560" y="3840480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CVE Scanner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1051560" y="4096512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Checks all installed apps against NIST NVD. Shows exact fix command per vulnerability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4846320" y="1536192"/>
            <a:ext cx="4206240" cy="987552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4846320" y="1536192"/>
            <a:ext cx="36576" cy="987552"/>
          </a:xfrm>
          <a:prstGeom prst="rect">
            <a:avLst/>
          </a:prstGeom>
          <a:solidFill>
            <a:srgbClr val="1A6BFF"/>
          </a:solidFill>
          <a:ln cap="flat" cmpd="sng" w="12700">
            <a:solidFill>
              <a:srgbClr val="1A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"/>
          <p:cNvSpPr/>
          <p:nvPr/>
        </p:nvSpPr>
        <p:spPr>
          <a:xfrm>
            <a:off x="4956048" y="1700784"/>
            <a:ext cx="402336" cy="402336"/>
          </a:xfrm>
          <a:prstGeom prst="ellipse">
            <a:avLst/>
          </a:prstGeom>
          <a:solidFill>
            <a:srgbClr val="0F1F38"/>
          </a:solidFill>
          <a:ln cap="flat" cmpd="sng" w="9525">
            <a:solidFill>
              <a:srgbClr val="1A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4937760" y="1682496"/>
            <a:ext cx="4389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5486400" y="1609344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Remediation Engine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5486400" y="1865376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Smart / Auto / Manual modes. Switches live in &lt;30s. Handles threats autonomously in AUTO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4846320" y="2651760"/>
            <a:ext cx="4206240" cy="987552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4846320" y="2651760"/>
            <a:ext cx="36576" cy="98755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4956048" y="2816352"/>
            <a:ext cx="402336" cy="402336"/>
          </a:xfrm>
          <a:prstGeom prst="ellipse">
            <a:avLst/>
          </a:prstGeom>
          <a:solidFill>
            <a:srgbClr val="0F1F38"/>
          </a:solidFill>
          <a:ln cap="flat" cmpd="sng" w="952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4937760" y="2798064"/>
            <a:ext cx="4389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5486400" y="2724912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Live Security Dashboard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5486400" y="2980944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7-page real-time browser dashboard. Alerts, Vault, Ports, CVEs, Devices — all in one place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4846320" y="3767328"/>
            <a:ext cx="4206240" cy="987552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5"/>
          <p:cNvSpPr/>
          <p:nvPr/>
        </p:nvSpPr>
        <p:spPr>
          <a:xfrm>
            <a:off x="4846320" y="3767328"/>
            <a:ext cx="36576" cy="987552"/>
          </a:xfrm>
          <a:prstGeom prst="rect">
            <a:avLst/>
          </a:prstGeom>
          <a:solidFill>
            <a:srgbClr val="A855F7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4956048" y="3931920"/>
            <a:ext cx="402336" cy="402336"/>
          </a:xfrm>
          <a:prstGeom prst="ellipse">
            <a:avLst/>
          </a:prstGeom>
          <a:solidFill>
            <a:srgbClr val="0F1F38"/>
          </a:solidFill>
          <a:ln cap="flat" cmpd="sng" w="9525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5"/>
          <p:cNvSpPr/>
          <p:nvPr/>
        </p:nvSpPr>
        <p:spPr>
          <a:xfrm>
            <a:off x="4937760" y="3913632"/>
            <a:ext cx="4389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🛡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5486400" y="3840480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Threat Radar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5486400" y="4096512"/>
            <a:ext cx="3429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Classifies every threat by severity. Smart cooldowns prevent alert fatigue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F1F3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5"/>
          <p:cNvSpPr/>
          <p:nvPr/>
        </p:nvSpPr>
        <p:spPr>
          <a:xfrm>
            <a:off x="365760" y="491032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ZYVARON  ·  CONFIDENTIAL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8046720" y="4910328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5 / 14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C14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6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A6BFF">
              <a:alpha val="7843"/>
            </a:srgbClr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457200" y="320040"/>
            <a:ext cx="1819656" cy="237744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466344" y="315468"/>
            <a:ext cx="1801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MARKET OPPORTUNITY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365750" y="781461"/>
            <a:ext cx="5948100" cy="7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The cybersecurity market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is enormous — and growing.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5943600" y="1371600"/>
            <a:ext cx="2926080" cy="2926080"/>
          </a:xfrm>
          <a:prstGeom prst="ellipse">
            <a:avLst/>
          </a:prstGeom>
          <a:solidFill>
            <a:srgbClr val="0A1628"/>
          </a:solidFill>
          <a:ln cap="flat" cmpd="sng" w="19050">
            <a:solidFill>
              <a:srgbClr val="1A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6309360" y="1737360"/>
            <a:ext cx="2194560" cy="2194560"/>
          </a:xfrm>
          <a:prstGeom prst="ellipse">
            <a:avLst/>
          </a:prstGeom>
          <a:solidFill>
            <a:srgbClr val="0A1628">
              <a:alpha val="85098"/>
            </a:srgbClr>
          </a:solidFill>
          <a:ln cap="flat" cmpd="sng" w="190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"/>
          <p:cNvSpPr/>
          <p:nvPr/>
        </p:nvSpPr>
        <p:spPr>
          <a:xfrm>
            <a:off x="6675120" y="2103120"/>
            <a:ext cx="1463040" cy="1463040"/>
          </a:xfrm>
          <a:prstGeom prst="ellipse">
            <a:avLst/>
          </a:prstGeom>
          <a:solidFill>
            <a:srgbClr val="0A1628">
              <a:alpha val="70196"/>
            </a:srgbClr>
          </a:solidFill>
          <a:ln cap="flat" cmpd="sng" w="19050">
            <a:solidFill>
              <a:srgbClr val="00D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6309350" y="1540024"/>
            <a:ext cx="15654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6B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TAM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6B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$345B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6867215" y="1887635"/>
            <a:ext cx="146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SAM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$42B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6867230" y="2606028"/>
            <a:ext cx="146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D97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D97E"/>
                </a:solidFill>
                <a:latin typeface="Calibri"/>
                <a:ea typeface="Calibri"/>
                <a:cs typeface="Calibri"/>
                <a:sym typeface="Calibri"/>
              </a:rPr>
              <a:t>SOM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D97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D97E"/>
                </a:solidFill>
                <a:latin typeface="Calibri"/>
                <a:ea typeface="Calibri"/>
                <a:cs typeface="Calibri"/>
                <a:sym typeface="Calibri"/>
              </a:rPr>
              <a:t>$480M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411455" y="1783803"/>
            <a:ext cx="5120700" cy="658500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411480" y="1786965"/>
            <a:ext cx="36600" cy="6585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"/>
          <p:cNvSpPr/>
          <p:nvPr/>
        </p:nvSpPr>
        <p:spPr>
          <a:xfrm>
            <a:off x="639940" y="1826292"/>
            <a:ext cx="109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60%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1732797" y="1906495"/>
            <a:ext cx="3657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of SMBs lack dedicated security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411455" y="2546530"/>
            <a:ext cx="5120700" cy="658500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411430" y="2542518"/>
            <a:ext cx="36600" cy="65850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639953" y="2662845"/>
            <a:ext cx="109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73%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1732785" y="2747847"/>
            <a:ext cx="3657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of attacks target endpoint devices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411455" y="3298070"/>
            <a:ext cx="5120700" cy="658500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6"/>
          <p:cNvSpPr/>
          <p:nvPr/>
        </p:nvSpPr>
        <p:spPr>
          <a:xfrm>
            <a:off x="411480" y="3298070"/>
            <a:ext cx="36600" cy="658500"/>
          </a:xfrm>
          <a:prstGeom prst="rect">
            <a:avLst/>
          </a:prstGeom>
          <a:solidFill>
            <a:srgbClr val="1A6BFF"/>
          </a:solidFill>
          <a:ln cap="flat" cmpd="sng" w="12700">
            <a:solidFill>
              <a:srgbClr val="1A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6"/>
          <p:cNvSpPr/>
          <p:nvPr/>
        </p:nvSpPr>
        <p:spPr>
          <a:xfrm>
            <a:off x="639950" y="3398737"/>
            <a:ext cx="1097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2.8B+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1732797" y="3398737"/>
            <a:ext cx="3657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PCs worldwide — all vulnerable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411455" y="4049623"/>
            <a:ext cx="5120700" cy="658500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6"/>
          <p:cNvSpPr/>
          <p:nvPr/>
        </p:nvSpPr>
        <p:spPr>
          <a:xfrm>
            <a:off x="411493" y="4049623"/>
            <a:ext cx="36600" cy="658500"/>
          </a:xfrm>
          <a:prstGeom prst="rect">
            <a:avLst/>
          </a:prstGeom>
          <a:solidFill>
            <a:srgbClr val="00D97E"/>
          </a:solidFill>
          <a:ln cap="flat" cmpd="sng" w="12700">
            <a:solidFill>
              <a:srgbClr val="00D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6"/>
          <p:cNvSpPr/>
          <p:nvPr/>
        </p:nvSpPr>
        <p:spPr>
          <a:xfrm>
            <a:off x="639953" y="4204850"/>
            <a:ext cx="109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7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D97E"/>
                </a:solidFill>
                <a:latin typeface="Calibri"/>
                <a:ea typeface="Calibri"/>
                <a:cs typeface="Calibri"/>
                <a:sym typeface="Calibri"/>
              </a:rPr>
              <a:t>17%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1732785" y="4246327"/>
            <a:ext cx="3657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CAGR — market growth 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F1F3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6"/>
          <p:cNvSpPr/>
          <p:nvPr/>
        </p:nvSpPr>
        <p:spPr>
          <a:xfrm>
            <a:off x="365760" y="491032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ZYVARON  ·  CONFIDENTIAL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8046720" y="4910328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6 / 14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C14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7"/>
          <p:cNvSpPr/>
          <p:nvPr/>
        </p:nvSpPr>
        <p:spPr>
          <a:xfrm>
            <a:off x="457200" y="320040"/>
            <a:ext cx="1472184" cy="237744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466344" y="315468"/>
            <a:ext cx="145389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BUSINESS MODEL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457200" y="621792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SaaS subscription.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Four tiers. Scales with the user.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365760" y="2011680"/>
            <a:ext cx="1993392" cy="3017520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6A85A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365760" y="2011680"/>
            <a:ext cx="1993392" cy="45720"/>
          </a:xfrm>
          <a:prstGeom prst="rect">
            <a:avLst/>
          </a:prstGeom>
          <a:solidFill>
            <a:srgbClr val="6A85A8"/>
          </a:solidFill>
          <a:ln cap="flat" cmpd="sng" w="12700">
            <a:solidFill>
              <a:srgbClr val="6A85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475488" y="212140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475488" y="2395728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$0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475488" y="3017520"/>
            <a:ext cx="17556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forever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475488" y="3246120"/>
            <a:ext cx="1773936" cy="9144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475488" y="3364992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✓  File monitoring &amp; vault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475488" y="3712464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✓  Port scanner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475488" y="4059936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✓  Basic dashboard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475488" y="4407408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✓  3 recoveries/day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2496312" y="2011680"/>
            <a:ext cx="1993392" cy="3017520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6BFF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7"/>
          <p:cNvSpPr/>
          <p:nvPr/>
        </p:nvSpPr>
        <p:spPr>
          <a:xfrm>
            <a:off x="2496312" y="2011680"/>
            <a:ext cx="1993392" cy="45720"/>
          </a:xfrm>
          <a:prstGeom prst="rect">
            <a:avLst/>
          </a:prstGeom>
          <a:solidFill>
            <a:srgbClr val="1A6BFF"/>
          </a:solidFill>
          <a:ln cap="flat" cmpd="sng" w="12700">
            <a:solidFill>
              <a:srgbClr val="1A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2606040" y="212140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BASIC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2606040" y="2395728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$5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2606040" y="3017520"/>
            <a:ext cx="17556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/month  ·  $50/yr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2606040" y="3246120"/>
            <a:ext cx="1773936" cy="9144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7"/>
          <p:cNvSpPr/>
          <p:nvPr/>
        </p:nvSpPr>
        <p:spPr>
          <a:xfrm>
            <a:off x="2606040" y="3364992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✓  All Free features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2606040" y="3712464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✓  CVE vulnerability scanner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2606040" y="4059936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✓  Unlimited file recovery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2606040" y="4407408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✓  Smart &amp; Manual modes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4626864" y="1874520"/>
            <a:ext cx="1993392" cy="3154680"/>
          </a:xfrm>
          <a:prstGeom prst="rect">
            <a:avLst/>
          </a:prstGeom>
          <a:solidFill>
            <a:srgbClr val="0A1628"/>
          </a:solidFill>
          <a:ln cap="flat" cmpd="sng" w="1905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  <a:effectLst>
            <a:outerShdw blurRad="317500" rotWithShape="0" algn="bl" dir="8100000" dist="635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7"/>
          <p:cNvSpPr/>
          <p:nvPr/>
        </p:nvSpPr>
        <p:spPr>
          <a:xfrm>
            <a:off x="4626864" y="1874520"/>
            <a:ext cx="1993392" cy="45720"/>
          </a:xfrm>
          <a:prstGeom prst="rect">
            <a:avLst/>
          </a:prstGeom>
          <a:solidFill>
            <a:srgbClr val="A855F7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4626864" y="1618488"/>
            <a:ext cx="1993392" cy="256032"/>
          </a:xfrm>
          <a:prstGeom prst="rect">
            <a:avLst/>
          </a:prstGeom>
          <a:solidFill>
            <a:srgbClr val="A855F7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7"/>
          <p:cNvSpPr/>
          <p:nvPr/>
        </p:nvSpPr>
        <p:spPr>
          <a:xfrm>
            <a:off x="4626864" y="1618488"/>
            <a:ext cx="19933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MOST POPULAR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4736592" y="198424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PREMIUM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4736592" y="2258568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$7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4736592" y="2880360"/>
            <a:ext cx="17556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/month  ·  $70/yr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4736592" y="3108960"/>
            <a:ext cx="1773936" cy="9144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7"/>
          <p:cNvSpPr/>
          <p:nvPr/>
        </p:nvSpPr>
        <p:spPr>
          <a:xfrm>
            <a:off x="4736592" y="3227832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✓  All Basic features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4736592" y="3575304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✓  AUTO hands-free mode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4736592" y="3922776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✓  Auto file recovery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4736592" y="4270248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✓  Multi-device (3)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6757416" y="2011680"/>
            <a:ext cx="1993392" cy="3017520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7"/>
          <p:cNvSpPr/>
          <p:nvPr/>
        </p:nvSpPr>
        <p:spPr>
          <a:xfrm>
            <a:off x="6757416" y="2011680"/>
            <a:ext cx="1993392" cy="45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7"/>
          <p:cNvSpPr/>
          <p:nvPr/>
        </p:nvSpPr>
        <p:spPr>
          <a:xfrm>
            <a:off x="6867144" y="212140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6867144" y="2395728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$12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6867144" y="3017520"/>
            <a:ext cx="17556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/month  ·  $140/yr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6867144" y="3246120"/>
            <a:ext cx="1773936" cy="9144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7"/>
          <p:cNvSpPr/>
          <p:nvPr/>
        </p:nvSpPr>
        <p:spPr>
          <a:xfrm>
            <a:off x="6867144" y="3364992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✓  All Premium features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6867144" y="3712464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✓  Automated pen testing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6867144" y="4059936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✓  PDF security reports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6867144" y="4407408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✓  Unlimited devices + API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365760" y="4754880"/>
            <a:ext cx="8412480" cy="137160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7"/>
          <p:cNvSpPr/>
          <p:nvPr/>
        </p:nvSpPr>
        <p:spPr>
          <a:xfrm>
            <a:off x="457200" y="4754880"/>
            <a:ext cx="82296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Download gated behind account  ·  Waitlist of 247+ pre-launch signups  ·  Google Sheets waitlist capturing emails daily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F1F3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7"/>
          <p:cNvSpPr/>
          <p:nvPr/>
        </p:nvSpPr>
        <p:spPr>
          <a:xfrm>
            <a:off x="365760" y="491032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ZYVARON  ·  CONFIDENTIAL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8046720" y="4910328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7 / 14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C14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8"/>
          <p:cNvSpPr/>
          <p:nvPr/>
        </p:nvSpPr>
        <p:spPr>
          <a:xfrm>
            <a:off x="457200" y="320040"/>
            <a:ext cx="950976" cy="237744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0D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8"/>
          <p:cNvSpPr/>
          <p:nvPr/>
        </p:nvSpPr>
        <p:spPr>
          <a:xfrm>
            <a:off x="466344" y="315468"/>
            <a:ext cx="9326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7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D97E"/>
                </a:solidFill>
                <a:latin typeface="Calibri"/>
                <a:ea typeface="Calibri"/>
                <a:cs typeface="Calibri"/>
                <a:sym typeface="Calibri"/>
              </a:rPr>
              <a:t>TRACTION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Built. Tested. Real results. 	</a:t>
            </a:r>
            <a:r>
              <a:rPr b="1" lang="en-US" sz="3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Link To Demo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384048" y="1444752"/>
            <a:ext cx="1938528" cy="1005840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8"/>
          <p:cNvSpPr/>
          <p:nvPr/>
        </p:nvSpPr>
        <p:spPr>
          <a:xfrm>
            <a:off x="384048" y="1444752"/>
            <a:ext cx="1938528" cy="36576"/>
          </a:xfrm>
          <a:prstGeom prst="rect">
            <a:avLst/>
          </a:prstGeom>
          <a:solidFill>
            <a:srgbClr val="1A6BFF"/>
          </a:solidFill>
          <a:ln cap="flat" cmpd="sng" w="12700">
            <a:solidFill>
              <a:srgbClr val="1A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8"/>
          <p:cNvSpPr/>
          <p:nvPr/>
        </p:nvSpPr>
        <p:spPr>
          <a:xfrm>
            <a:off x="521208" y="1554480"/>
            <a:ext cx="16642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B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v0.3.0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475488" y="2048256"/>
            <a:ext cx="1755648" cy="352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Live Agent Version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2505456" y="1444752"/>
            <a:ext cx="1938528" cy="1005840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8"/>
          <p:cNvSpPr/>
          <p:nvPr/>
        </p:nvSpPr>
        <p:spPr>
          <a:xfrm>
            <a:off x="2505456" y="1444752"/>
            <a:ext cx="1938528" cy="36576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8"/>
          <p:cNvSpPr/>
          <p:nvPr/>
        </p:nvSpPr>
        <p:spPr>
          <a:xfrm>
            <a:off x="2642616" y="1554480"/>
            <a:ext cx="16642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2596896" y="2048256"/>
            <a:ext cx="1755648" cy="352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CVEs found on first run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4626864" y="1444752"/>
            <a:ext cx="1938528" cy="1005840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8"/>
          <p:cNvSpPr/>
          <p:nvPr/>
        </p:nvSpPr>
        <p:spPr>
          <a:xfrm>
            <a:off x="4626864" y="1444752"/>
            <a:ext cx="1938528" cy="36576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8"/>
          <p:cNvSpPr/>
          <p:nvPr/>
        </p:nvSpPr>
        <p:spPr>
          <a:xfrm>
            <a:off x="4764024" y="1554480"/>
            <a:ext cx="16642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4718304" y="2048256"/>
            <a:ext cx="1755648" cy="352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Critical ports blocked instantly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6748272" y="1444752"/>
            <a:ext cx="1938528" cy="1005840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8"/>
          <p:cNvSpPr/>
          <p:nvPr/>
        </p:nvSpPr>
        <p:spPr>
          <a:xfrm>
            <a:off x="6748272" y="1444752"/>
            <a:ext cx="1938528" cy="36576"/>
          </a:xfrm>
          <a:prstGeom prst="rect">
            <a:avLst/>
          </a:prstGeom>
          <a:solidFill>
            <a:srgbClr val="00D97E"/>
          </a:solidFill>
          <a:ln cap="flat" cmpd="sng" w="12700">
            <a:solidFill>
              <a:srgbClr val="00D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8"/>
          <p:cNvSpPr/>
          <p:nvPr/>
        </p:nvSpPr>
        <p:spPr>
          <a:xfrm>
            <a:off x="6885432" y="1554480"/>
            <a:ext cx="16642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97E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00D97E"/>
                </a:solidFill>
                <a:latin typeface="Calibri"/>
                <a:ea typeface="Calibri"/>
                <a:cs typeface="Calibri"/>
                <a:sym typeface="Calibri"/>
              </a:rPr>
              <a:t>247</a:t>
            </a:r>
            <a:r>
              <a:rPr b="1" i="0" lang="en-US" sz="3000" u="none" cap="none" strike="noStrike">
                <a:solidFill>
                  <a:srgbClr val="00D97E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6839712" y="2048256"/>
            <a:ext cx="1755648" cy="352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Pre-launch waitlist signups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384048" y="2651760"/>
            <a:ext cx="2679192" cy="1938528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8"/>
          <p:cNvSpPr/>
          <p:nvPr/>
        </p:nvSpPr>
        <p:spPr>
          <a:xfrm>
            <a:off x="384048" y="2651760"/>
            <a:ext cx="2679192" cy="36576"/>
          </a:xfrm>
          <a:prstGeom prst="rect">
            <a:avLst/>
          </a:prstGeom>
          <a:solidFill>
            <a:srgbClr val="1A6BFF"/>
          </a:solidFill>
          <a:ln cap="flat" cmpd="sng" w="12700">
            <a:solidFill>
              <a:srgbClr val="1A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8"/>
          <p:cNvSpPr/>
          <p:nvPr/>
        </p:nvSpPr>
        <p:spPr>
          <a:xfrm>
            <a:off x="521208" y="2743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🔬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521208" y="3273552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Fully Working Product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521208" y="3566160"/>
            <a:ext cx="2423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7-layer autonomous agent running on Windows 11. Port blocking, </a:t>
            </a:r>
            <a:r>
              <a:rPr lang="en-US" sz="900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filevault</a:t>
            </a:r>
            <a:r>
              <a:rPr b="0" i="0" lang="en-US" sz="9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, CVE scanner, remediation engine, REST API server and live dashboard — all operational.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3246120" y="2651760"/>
            <a:ext cx="2679192" cy="1938528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8"/>
          <p:cNvSpPr/>
          <p:nvPr/>
        </p:nvSpPr>
        <p:spPr>
          <a:xfrm>
            <a:off x="3246120" y="2651760"/>
            <a:ext cx="2679192" cy="36576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8"/>
          <p:cNvSpPr/>
          <p:nvPr/>
        </p:nvSpPr>
        <p:spPr>
          <a:xfrm>
            <a:off x="3383280" y="2743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8"/>
          <p:cNvSpPr/>
          <p:nvPr/>
        </p:nvSpPr>
        <p:spPr>
          <a:xfrm>
            <a:off x="3383280" y="3273552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Real CVE Detection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8"/>
          <p:cNvSpPr/>
          <p:nvPr/>
        </p:nvSpPr>
        <p:spPr>
          <a:xfrm>
            <a:off x="3383280" y="3566160"/>
            <a:ext cx="2423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On a standard developer machine (Chrome, Git, Python), ZYVARON found 3 Critical, 8 High, and 3 Medium CVEs — with exact winget patch commands for each.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6108192" y="2651760"/>
            <a:ext cx="2679192" cy="1938528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8"/>
          <p:cNvSpPr/>
          <p:nvPr/>
        </p:nvSpPr>
        <p:spPr>
          <a:xfrm>
            <a:off x="6108192" y="2651760"/>
            <a:ext cx="2679192" cy="36576"/>
          </a:xfrm>
          <a:prstGeom prst="rect">
            <a:avLst/>
          </a:prstGeom>
          <a:solidFill>
            <a:srgbClr val="00D97E"/>
          </a:solidFill>
          <a:ln cap="flat" cmpd="sng" w="12700">
            <a:solidFill>
              <a:srgbClr val="00D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8"/>
          <p:cNvSpPr/>
          <p:nvPr/>
        </p:nvSpPr>
        <p:spPr>
          <a:xfrm>
            <a:off x="6245352" y="2743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8"/>
          <p:cNvSpPr/>
          <p:nvPr/>
        </p:nvSpPr>
        <p:spPr>
          <a:xfrm>
            <a:off x="6245352" y="3273552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Instant Threat Response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6245352" y="3566160"/>
            <a:ext cx="2423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Port 445 (the WannaCry ransomware attack vector) detected and permanently blocked in under 4 seconds with zero user interaction.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F1F3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8"/>
          <p:cNvSpPr/>
          <p:nvPr/>
        </p:nvSpPr>
        <p:spPr>
          <a:xfrm>
            <a:off x="365760" y="491032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ZYVARON  ·  CONFIDENTIAL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8"/>
          <p:cNvSpPr/>
          <p:nvPr/>
        </p:nvSpPr>
        <p:spPr>
          <a:xfrm>
            <a:off x="8046720" y="4910328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8 / 14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C14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9"/>
          <p:cNvSpPr/>
          <p:nvPr/>
        </p:nvSpPr>
        <p:spPr>
          <a:xfrm>
            <a:off x="457200" y="320040"/>
            <a:ext cx="2080260" cy="237744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9"/>
          <p:cNvSpPr/>
          <p:nvPr/>
        </p:nvSpPr>
        <p:spPr>
          <a:xfrm>
            <a:off x="466344" y="315468"/>
            <a:ext cx="20619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COMPETITIVE LANDSCAPE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Nothing does all of this.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457200" y="12618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Competitors solve one problem. ZYVARON solves </a:t>
            </a:r>
            <a:r>
              <a:rPr b="1" lang="en-US" sz="1200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crucial and vital ones </a:t>
            </a:r>
            <a:r>
              <a:rPr b="1" i="0" lang="en-US" sz="1200" u="none" cap="none" strike="noStrike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— autonomously.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384048" y="1664208"/>
            <a:ext cx="2194560" cy="402336"/>
          </a:xfrm>
          <a:prstGeom prst="rect">
            <a:avLst/>
          </a:prstGeom>
          <a:solidFill>
            <a:srgbClr val="0F1F3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9"/>
          <p:cNvSpPr/>
          <p:nvPr/>
        </p:nvSpPr>
        <p:spPr>
          <a:xfrm>
            <a:off x="429768" y="1664208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2578608" y="1664208"/>
            <a:ext cx="1188720" cy="402336"/>
          </a:xfrm>
          <a:prstGeom prst="rect">
            <a:avLst/>
          </a:prstGeom>
          <a:solidFill>
            <a:srgbClr val="0F1F3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9"/>
          <p:cNvSpPr/>
          <p:nvPr/>
        </p:nvSpPr>
        <p:spPr>
          <a:xfrm>
            <a:off x="2624328" y="1664208"/>
            <a:ext cx="1097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Windows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Defender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3767328" y="1664208"/>
            <a:ext cx="1188720" cy="402336"/>
          </a:xfrm>
          <a:prstGeom prst="rect">
            <a:avLst/>
          </a:prstGeom>
          <a:solidFill>
            <a:srgbClr val="0F1F3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9"/>
          <p:cNvSpPr/>
          <p:nvPr/>
        </p:nvSpPr>
        <p:spPr>
          <a:xfrm>
            <a:off x="3813048" y="1664208"/>
            <a:ext cx="1097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Norton /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McAfee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4956048" y="1664208"/>
            <a:ext cx="1188720" cy="402336"/>
          </a:xfrm>
          <a:prstGeom prst="rect">
            <a:avLst/>
          </a:prstGeom>
          <a:solidFill>
            <a:srgbClr val="0F1F3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9"/>
          <p:cNvSpPr/>
          <p:nvPr/>
        </p:nvSpPr>
        <p:spPr>
          <a:xfrm>
            <a:off x="5001768" y="1664208"/>
            <a:ext cx="1097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CrowdStrike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6144768" y="1664208"/>
            <a:ext cx="1188720" cy="402336"/>
          </a:xfrm>
          <a:prstGeom prst="rect">
            <a:avLst/>
          </a:prstGeom>
          <a:solidFill>
            <a:srgbClr val="1A6BFF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9"/>
          <p:cNvSpPr/>
          <p:nvPr/>
        </p:nvSpPr>
        <p:spPr>
          <a:xfrm>
            <a:off x="6190488" y="1664208"/>
            <a:ext cx="1097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ZYVARON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384048" y="2066544"/>
            <a:ext cx="2194560" cy="429768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9"/>
          <p:cNvSpPr/>
          <p:nvPr/>
        </p:nvSpPr>
        <p:spPr>
          <a:xfrm>
            <a:off x="429768" y="2066544"/>
            <a:ext cx="210312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Port blocking (automatic)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2578608" y="2066544"/>
            <a:ext cx="1188720" cy="429768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9"/>
          <p:cNvSpPr/>
          <p:nvPr/>
        </p:nvSpPr>
        <p:spPr>
          <a:xfrm>
            <a:off x="2624328" y="2066544"/>
            <a:ext cx="10972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3767328" y="2066544"/>
            <a:ext cx="1188720" cy="429768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9"/>
          <p:cNvSpPr/>
          <p:nvPr/>
        </p:nvSpPr>
        <p:spPr>
          <a:xfrm>
            <a:off x="3813048" y="2066544"/>
            <a:ext cx="10972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4956048" y="2066544"/>
            <a:ext cx="1188720" cy="429768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9"/>
          <p:cNvSpPr/>
          <p:nvPr/>
        </p:nvSpPr>
        <p:spPr>
          <a:xfrm>
            <a:off x="5001768" y="2066544"/>
            <a:ext cx="10972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Partial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6144768" y="2066544"/>
            <a:ext cx="1188720" cy="429768"/>
          </a:xfrm>
          <a:prstGeom prst="rect">
            <a:avLst/>
          </a:prstGeom>
          <a:solidFill>
            <a:srgbClr val="0D1F35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9"/>
          <p:cNvSpPr/>
          <p:nvPr/>
        </p:nvSpPr>
        <p:spPr>
          <a:xfrm>
            <a:off x="6190488" y="2066544"/>
            <a:ext cx="10972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9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97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9"/>
          <p:cNvSpPr/>
          <p:nvPr/>
        </p:nvSpPr>
        <p:spPr>
          <a:xfrm>
            <a:off x="384048" y="2496312"/>
            <a:ext cx="2194560" cy="429768"/>
          </a:xfrm>
          <a:prstGeom prst="rect">
            <a:avLst/>
          </a:prstGeom>
          <a:solidFill>
            <a:srgbClr val="070C14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9"/>
          <p:cNvSpPr/>
          <p:nvPr/>
        </p:nvSpPr>
        <p:spPr>
          <a:xfrm>
            <a:off x="429768" y="2496312"/>
            <a:ext cx="210312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Filevault</a:t>
            </a:r>
            <a:r>
              <a:rPr b="1" i="0" lang="en-US" sz="95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 &amp; recovery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2578608" y="2496312"/>
            <a:ext cx="1188720" cy="429768"/>
          </a:xfrm>
          <a:prstGeom prst="rect">
            <a:avLst/>
          </a:prstGeom>
          <a:solidFill>
            <a:srgbClr val="070C14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9"/>
          <p:cNvSpPr/>
          <p:nvPr/>
        </p:nvSpPr>
        <p:spPr>
          <a:xfrm>
            <a:off x="2624328" y="2496312"/>
            <a:ext cx="10972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3767328" y="2496312"/>
            <a:ext cx="1188720" cy="429768"/>
          </a:xfrm>
          <a:prstGeom prst="rect">
            <a:avLst/>
          </a:prstGeom>
          <a:solidFill>
            <a:srgbClr val="070C14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9"/>
          <p:cNvSpPr/>
          <p:nvPr/>
        </p:nvSpPr>
        <p:spPr>
          <a:xfrm>
            <a:off x="3813048" y="2496312"/>
            <a:ext cx="10972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Partial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4956048" y="2496312"/>
            <a:ext cx="1188720" cy="429768"/>
          </a:xfrm>
          <a:prstGeom prst="rect">
            <a:avLst/>
          </a:prstGeom>
          <a:solidFill>
            <a:srgbClr val="070C14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9"/>
          <p:cNvSpPr/>
          <p:nvPr/>
        </p:nvSpPr>
        <p:spPr>
          <a:xfrm>
            <a:off x="5001768" y="2496312"/>
            <a:ext cx="10972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6144768" y="2496312"/>
            <a:ext cx="1188720" cy="429768"/>
          </a:xfrm>
          <a:prstGeom prst="rect">
            <a:avLst/>
          </a:prstGeom>
          <a:solidFill>
            <a:srgbClr val="0D1F35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9"/>
          <p:cNvSpPr/>
          <p:nvPr/>
        </p:nvSpPr>
        <p:spPr>
          <a:xfrm>
            <a:off x="6190488" y="2496312"/>
            <a:ext cx="10972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9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97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9"/>
          <p:cNvSpPr/>
          <p:nvPr/>
        </p:nvSpPr>
        <p:spPr>
          <a:xfrm>
            <a:off x="384048" y="2926080"/>
            <a:ext cx="2194560" cy="429768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9"/>
          <p:cNvSpPr/>
          <p:nvPr/>
        </p:nvSpPr>
        <p:spPr>
          <a:xfrm>
            <a:off x="429768" y="2926080"/>
            <a:ext cx="210312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CVE scanner + fix cmd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9"/>
          <p:cNvSpPr/>
          <p:nvPr/>
        </p:nvSpPr>
        <p:spPr>
          <a:xfrm>
            <a:off x="2578608" y="2926080"/>
            <a:ext cx="1188720" cy="429768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9"/>
          <p:cNvSpPr/>
          <p:nvPr/>
        </p:nvSpPr>
        <p:spPr>
          <a:xfrm>
            <a:off x="2624328" y="2926080"/>
            <a:ext cx="10972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9"/>
          <p:cNvSpPr/>
          <p:nvPr/>
        </p:nvSpPr>
        <p:spPr>
          <a:xfrm>
            <a:off x="3767328" y="2926080"/>
            <a:ext cx="1188720" cy="429768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9"/>
          <p:cNvSpPr/>
          <p:nvPr/>
        </p:nvSpPr>
        <p:spPr>
          <a:xfrm>
            <a:off x="3813048" y="2926080"/>
            <a:ext cx="10972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4956048" y="2926080"/>
            <a:ext cx="1188720" cy="429768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9"/>
          <p:cNvSpPr/>
          <p:nvPr/>
        </p:nvSpPr>
        <p:spPr>
          <a:xfrm>
            <a:off x="5001768" y="2926080"/>
            <a:ext cx="10972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6144768" y="2926080"/>
            <a:ext cx="1188720" cy="429768"/>
          </a:xfrm>
          <a:prstGeom prst="rect">
            <a:avLst/>
          </a:prstGeom>
          <a:solidFill>
            <a:srgbClr val="0D1F35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9"/>
          <p:cNvSpPr/>
          <p:nvPr/>
        </p:nvSpPr>
        <p:spPr>
          <a:xfrm>
            <a:off x="6190488" y="2926080"/>
            <a:ext cx="10972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9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97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9"/>
          <p:cNvSpPr/>
          <p:nvPr/>
        </p:nvSpPr>
        <p:spPr>
          <a:xfrm>
            <a:off x="384048" y="3355848"/>
            <a:ext cx="2194560" cy="429768"/>
          </a:xfrm>
          <a:prstGeom prst="rect">
            <a:avLst/>
          </a:prstGeom>
          <a:solidFill>
            <a:srgbClr val="070C14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9"/>
          <p:cNvSpPr/>
          <p:nvPr/>
        </p:nvSpPr>
        <p:spPr>
          <a:xfrm>
            <a:off x="429768" y="3355848"/>
            <a:ext cx="210312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Autonomous remediation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9"/>
          <p:cNvSpPr/>
          <p:nvPr/>
        </p:nvSpPr>
        <p:spPr>
          <a:xfrm>
            <a:off x="2578608" y="3355848"/>
            <a:ext cx="1188720" cy="429768"/>
          </a:xfrm>
          <a:prstGeom prst="rect">
            <a:avLst/>
          </a:prstGeom>
          <a:solidFill>
            <a:srgbClr val="070C14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9"/>
          <p:cNvSpPr/>
          <p:nvPr/>
        </p:nvSpPr>
        <p:spPr>
          <a:xfrm>
            <a:off x="2624328" y="3355848"/>
            <a:ext cx="10972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9"/>
          <p:cNvSpPr/>
          <p:nvPr/>
        </p:nvSpPr>
        <p:spPr>
          <a:xfrm>
            <a:off x="3767328" y="3355848"/>
            <a:ext cx="1188720" cy="429768"/>
          </a:xfrm>
          <a:prstGeom prst="rect">
            <a:avLst/>
          </a:prstGeom>
          <a:solidFill>
            <a:srgbClr val="070C14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9"/>
          <p:cNvSpPr/>
          <p:nvPr/>
        </p:nvSpPr>
        <p:spPr>
          <a:xfrm>
            <a:off x="3813048" y="3355848"/>
            <a:ext cx="10972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9"/>
          <p:cNvSpPr/>
          <p:nvPr/>
        </p:nvSpPr>
        <p:spPr>
          <a:xfrm>
            <a:off x="4956048" y="3355848"/>
            <a:ext cx="1188720" cy="429768"/>
          </a:xfrm>
          <a:prstGeom prst="rect">
            <a:avLst/>
          </a:prstGeom>
          <a:solidFill>
            <a:srgbClr val="070C14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9"/>
          <p:cNvSpPr/>
          <p:nvPr/>
        </p:nvSpPr>
        <p:spPr>
          <a:xfrm>
            <a:off x="5001768" y="3355848"/>
            <a:ext cx="10972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Enterprise only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9"/>
          <p:cNvSpPr/>
          <p:nvPr/>
        </p:nvSpPr>
        <p:spPr>
          <a:xfrm>
            <a:off x="6144768" y="3355848"/>
            <a:ext cx="1188720" cy="429768"/>
          </a:xfrm>
          <a:prstGeom prst="rect">
            <a:avLst/>
          </a:prstGeom>
          <a:solidFill>
            <a:srgbClr val="0D1F35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9"/>
          <p:cNvSpPr/>
          <p:nvPr/>
        </p:nvSpPr>
        <p:spPr>
          <a:xfrm>
            <a:off x="6190488" y="3355848"/>
            <a:ext cx="10972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9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97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9"/>
          <p:cNvSpPr/>
          <p:nvPr/>
        </p:nvSpPr>
        <p:spPr>
          <a:xfrm>
            <a:off x="384048" y="3785616"/>
            <a:ext cx="2194560" cy="429768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9"/>
          <p:cNvSpPr/>
          <p:nvPr/>
        </p:nvSpPr>
        <p:spPr>
          <a:xfrm>
            <a:off x="429768" y="3785616"/>
            <a:ext cx="210312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Self-hosted (private)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9"/>
          <p:cNvSpPr/>
          <p:nvPr/>
        </p:nvSpPr>
        <p:spPr>
          <a:xfrm>
            <a:off x="2578608" y="3785616"/>
            <a:ext cx="1188720" cy="429768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9"/>
          <p:cNvSpPr/>
          <p:nvPr/>
        </p:nvSpPr>
        <p:spPr>
          <a:xfrm>
            <a:off x="2624328" y="3785616"/>
            <a:ext cx="10972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9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D97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9"/>
          <p:cNvSpPr/>
          <p:nvPr/>
        </p:nvSpPr>
        <p:spPr>
          <a:xfrm>
            <a:off x="3767328" y="3785616"/>
            <a:ext cx="1188720" cy="429768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9"/>
          <p:cNvSpPr/>
          <p:nvPr/>
        </p:nvSpPr>
        <p:spPr>
          <a:xfrm>
            <a:off x="3813048" y="3785616"/>
            <a:ext cx="10972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9"/>
          <p:cNvSpPr/>
          <p:nvPr/>
        </p:nvSpPr>
        <p:spPr>
          <a:xfrm>
            <a:off x="4956048" y="3785616"/>
            <a:ext cx="1188720" cy="429768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9"/>
          <p:cNvSpPr/>
          <p:nvPr/>
        </p:nvSpPr>
        <p:spPr>
          <a:xfrm>
            <a:off x="5001768" y="3785616"/>
            <a:ext cx="10972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9"/>
          <p:cNvSpPr/>
          <p:nvPr/>
        </p:nvSpPr>
        <p:spPr>
          <a:xfrm>
            <a:off x="6144768" y="3785616"/>
            <a:ext cx="1188720" cy="429768"/>
          </a:xfrm>
          <a:prstGeom prst="rect">
            <a:avLst/>
          </a:prstGeom>
          <a:solidFill>
            <a:srgbClr val="0D1F35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9"/>
          <p:cNvSpPr/>
          <p:nvPr/>
        </p:nvSpPr>
        <p:spPr>
          <a:xfrm>
            <a:off x="6190488" y="3785616"/>
            <a:ext cx="10972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9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97E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9"/>
          <p:cNvSpPr/>
          <p:nvPr/>
        </p:nvSpPr>
        <p:spPr>
          <a:xfrm>
            <a:off x="384048" y="4215384"/>
            <a:ext cx="2194560" cy="429768"/>
          </a:xfrm>
          <a:prstGeom prst="rect">
            <a:avLst/>
          </a:prstGeom>
          <a:solidFill>
            <a:srgbClr val="070C14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9"/>
          <p:cNvSpPr/>
          <p:nvPr/>
        </p:nvSpPr>
        <p:spPr>
          <a:xfrm>
            <a:off x="429768" y="4215384"/>
            <a:ext cx="210312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Price for individuals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9"/>
          <p:cNvSpPr/>
          <p:nvPr/>
        </p:nvSpPr>
        <p:spPr>
          <a:xfrm>
            <a:off x="2578608" y="4215384"/>
            <a:ext cx="1188720" cy="429768"/>
          </a:xfrm>
          <a:prstGeom prst="rect">
            <a:avLst/>
          </a:prstGeom>
          <a:solidFill>
            <a:srgbClr val="070C14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9"/>
          <p:cNvSpPr/>
          <p:nvPr/>
        </p:nvSpPr>
        <p:spPr>
          <a:xfrm>
            <a:off x="2624328" y="4215384"/>
            <a:ext cx="10972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9"/>
          <p:cNvSpPr/>
          <p:nvPr/>
        </p:nvSpPr>
        <p:spPr>
          <a:xfrm>
            <a:off x="3767328" y="4215384"/>
            <a:ext cx="1188720" cy="429768"/>
          </a:xfrm>
          <a:prstGeom prst="rect">
            <a:avLst/>
          </a:prstGeom>
          <a:solidFill>
            <a:srgbClr val="070C14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9"/>
          <p:cNvSpPr/>
          <p:nvPr/>
        </p:nvSpPr>
        <p:spPr>
          <a:xfrm>
            <a:off x="3813048" y="4215384"/>
            <a:ext cx="10972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$50–100/yr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9"/>
          <p:cNvSpPr/>
          <p:nvPr/>
        </p:nvSpPr>
        <p:spPr>
          <a:xfrm>
            <a:off x="4956048" y="4215384"/>
            <a:ext cx="1188720" cy="429768"/>
          </a:xfrm>
          <a:prstGeom prst="rect">
            <a:avLst/>
          </a:prstGeom>
          <a:solidFill>
            <a:srgbClr val="070C14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9"/>
          <p:cNvSpPr/>
          <p:nvPr/>
        </p:nvSpPr>
        <p:spPr>
          <a:xfrm>
            <a:off x="5001768" y="4215384"/>
            <a:ext cx="10972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$150+/yr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9"/>
          <p:cNvSpPr/>
          <p:nvPr/>
        </p:nvSpPr>
        <p:spPr>
          <a:xfrm>
            <a:off x="6144768" y="4215384"/>
            <a:ext cx="1188720" cy="429768"/>
          </a:xfrm>
          <a:prstGeom prst="rect">
            <a:avLst/>
          </a:prstGeom>
          <a:solidFill>
            <a:srgbClr val="0D1F35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9"/>
          <p:cNvSpPr/>
          <p:nvPr/>
        </p:nvSpPr>
        <p:spPr>
          <a:xfrm>
            <a:off x="6190488" y="4215384"/>
            <a:ext cx="10972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$0–$144/yr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9"/>
          <p:cNvSpPr/>
          <p:nvPr/>
        </p:nvSpPr>
        <p:spPr>
          <a:xfrm>
            <a:off x="384048" y="4681728"/>
            <a:ext cx="8321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✓ = ZYVARON handles this automatically  ·  Enterprise solutions cost 10–20× more and require dedicated IT teams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F1F3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9"/>
          <p:cNvSpPr/>
          <p:nvPr/>
        </p:nvSpPr>
        <p:spPr>
          <a:xfrm>
            <a:off x="365760" y="491032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ZYVARON  ·  CONFIDENTIAL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9"/>
          <p:cNvSpPr/>
          <p:nvPr/>
        </p:nvSpPr>
        <p:spPr>
          <a:xfrm>
            <a:off x="8046720" y="4910328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9 / 14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C14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0"/>
          <p:cNvSpPr/>
          <p:nvPr/>
        </p:nvSpPr>
        <p:spPr>
          <a:xfrm>
            <a:off x="457200" y="320040"/>
            <a:ext cx="1298448" cy="237744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0"/>
          <p:cNvSpPr/>
          <p:nvPr/>
        </p:nvSpPr>
        <p:spPr>
          <a:xfrm>
            <a:off x="466344" y="315468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GO-TO-MARKET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0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Three phases to scale.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0"/>
          <p:cNvSpPr/>
          <p:nvPr/>
        </p:nvSpPr>
        <p:spPr>
          <a:xfrm>
            <a:off x="384048" y="1444752"/>
            <a:ext cx="2679192" cy="3246120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6B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0"/>
          <p:cNvSpPr/>
          <p:nvPr/>
        </p:nvSpPr>
        <p:spPr>
          <a:xfrm>
            <a:off x="384048" y="1444752"/>
            <a:ext cx="2679192" cy="45720"/>
          </a:xfrm>
          <a:prstGeom prst="rect">
            <a:avLst/>
          </a:prstGeom>
          <a:solidFill>
            <a:srgbClr val="1A6BFF"/>
          </a:solidFill>
          <a:ln cap="flat" cmpd="sng" w="12700">
            <a:solidFill>
              <a:srgbClr val="1A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0"/>
          <p:cNvSpPr/>
          <p:nvPr/>
        </p:nvSpPr>
        <p:spPr>
          <a:xfrm>
            <a:off x="493776" y="1572768"/>
            <a:ext cx="1097280" cy="219456"/>
          </a:xfrm>
          <a:prstGeom prst="rect">
            <a:avLst/>
          </a:prstGeom>
          <a:solidFill>
            <a:srgbClr val="0F1F38"/>
          </a:solidFill>
          <a:ln cap="flat" cmpd="sng" w="9525">
            <a:solidFill>
              <a:srgbClr val="1A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0"/>
          <p:cNvSpPr/>
          <p:nvPr/>
        </p:nvSpPr>
        <p:spPr>
          <a:xfrm>
            <a:off x="493776" y="1572768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B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0"/>
          <p:cNvSpPr/>
          <p:nvPr/>
        </p:nvSpPr>
        <p:spPr>
          <a:xfrm>
            <a:off x="1682496" y="1591056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Q3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0"/>
          <p:cNvSpPr/>
          <p:nvPr/>
        </p:nvSpPr>
        <p:spPr>
          <a:xfrm>
            <a:off x="493776" y="1847088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Launch &amp; Acquire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0"/>
          <p:cNvSpPr/>
          <p:nvPr/>
        </p:nvSpPr>
        <p:spPr>
          <a:xfrm>
            <a:off x="493776" y="2267712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6B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9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Public launch — Windows desktop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0"/>
          <p:cNvSpPr/>
          <p:nvPr/>
        </p:nvSpPr>
        <p:spPr>
          <a:xfrm>
            <a:off x="493776" y="2670048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6B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9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Convert 247+ waitlist to users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0"/>
          <p:cNvSpPr/>
          <p:nvPr/>
        </p:nvSpPr>
        <p:spPr>
          <a:xfrm>
            <a:off x="493776" y="3072384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6B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9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Developer &amp; tech community (Product Hunt, Reddit)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0"/>
          <p:cNvSpPr/>
          <p:nvPr/>
        </p:nvSpPr>
        <p:spPr>
          <a:xfrm>
            <a:off x="493776" y="3474720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6B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9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Free tier as acquisition engine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0"/>
          <p:cNvSpPr/>
          <p:nvPr/>
        </p:nvSpPr>
        <p:spPr>
          <a:xfrm>
            <a:off x="493776" y="3877056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6B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9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Target: 5,000 downloads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0"/>
          <p:cNvSpPr/>
          <p:nvPr/>
        </p:nvSpPr>
        <p:spPr>
          <a:xfrm>
            <a:off x="3246120" y="1444752"/>
            <a:ext cx="2679192" cy="3246120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0"/>
          <p:cNvSpPr/>
          <p:nvPr/>
        </p:nvSpPr>
        <p:spPr>
          <a:xfrm>
            <a:off x="3246120" y="1444752"/>
            <a:ext cx="2679192" cy="457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0"/>
          <p:cNvSpPr/>
          <p:nvPr/>
        </p:nvSpPr>
        <p:spPr>
          <a:xfrm>
            <a:off x="3355848" y="1572768"/>
            <a:ext cx="1097280" cy="219456"/>
          </a:xfrm>
          <a:prstGeom prst="rect">
            <a:avLst/>
          </a:prstGeom>
          <a:solidFill>
            <a:srgbClr val="0F1F38"/>
          </a:solidFill>
          <a:ln cap="flat" cmpd="sng" w="952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0"/>
          <p:cNvSpPr/>
          <p:nvPr/>
        </p:nvSpPr>
        <p:spPr>
          <a:xfrm>
            <a:off x="3355848" y="1572768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0"/>
          <p:cNvSpPr/>
          <p:nvPr/>
        </p:nvSpPr>
        <p:spPr>
          <a:xfrm>
            <a:off x="4544568" y="1591056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Q4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0"/>
          <p:cNvSpPr/>
          <p:nvPr/>
        </p:nvSpPr>
        <p:spPr>
          <a:xfrm>
            <a:off x="3355848" y="1847088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Monetise &amp; Grow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0"/>
          <p:cNvSpPr/>
          <p:nvPr/>
        </p:nvSpPr>
        <p:spPr>
          <a:xfrm>
            <a:off x="3355848" y="2267712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9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Basic + Premium conversion campaigns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0"/>
          <p:cNvSpPr/>
          <p:nvPr/>
        </p:nvSpPr>
        <p:spPr>
          <a:xfrm>
            <a:off x="3355848" y="2670048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9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Referral program (invite 3, get Pro month free)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0"/>
          <p:cNvSpPr/>
          <p:nvPr/>
        </p:nvSpPr>
        <p:spPr>
          <a:xfrm>
            <a:off x="3355848" y="3072384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9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LinkedIn + YouTube content marketing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0"/>
          <p:cNvSpPr/>
          <p:nvPr/>
        </p:nvSpPr>
        <p:spPr>
          <a:xfrm>
            <a:off x="3355848" y="3474720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9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Freelancer &amp; SMB targeting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0"/>
          <p:cNvSpPr/>
          <p:nvPr/>
        </p:nvSpPr>
        <p:spPr>
          <a:xfrm>
            <a:off x="3355848" y="3877056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9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Target: $15K MRR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0"/>
          <p:cNvSpPr/>
          <p:nvPr/>
        </p:nvSpPr>
        <p:spPr>
          <a:xfrm>
            <a:off x="6108192" y="1444752"/>
            <a:ext cx="2679192" cy="3246120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00D97E"/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0"/>
          <p:cNvSpPr/>
          <p:nvPr/>
        </p:nvSpPr>
        <p:spPr>
          <a:xfrm>
            <a:off x="6108192" y="1444752"/>
            <a:ext cx="2679192" cy="45720"/>
          </a:xfrm>
          <a:prstGeom prst="rect">
            <a:avLst/>
          </a:prstGeom>
          <a:solidFill>
            <a:srgbClr val="00D97E"/>
          </a:solidFill>
          <a:ln cap="flat" cmpd="sng" w="12700">
            <a:solidFill>
              <a:srgbClr val="00D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0"/>
          <p:cNvSpPr/>
          <p:nvPr/>
        </p:nvSpPr>
        <p:spPr>
          <a:xfrm>
            <a:off x="6217920" y="1572768"/>
            <a:ext cx="1097280" cy="219456"/>
          </a:xfrm>
          <a:prstGeom prst="rect">
            <a:avLst/>
          </a:prstGeom>
          <a:solidFill>
            <a:srgbClr val="0F1F38"/>
          </a:solidFill>
          <a:ln cap="flat" cmpd="sng" w="9525">
            <a:solidFill>
              <a:srgbClr val="00D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0"/>
          <p:cNvSpPr/>
          <p:nvPr/>
        </p:nvSpPr>
        <p:spPr>
          <a:xfrm>
            <a:off x="6217920" y="1572768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97E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0D97E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0"/>
          <p:cNvSpPr/>
          <p:nvPr/>
        </p:nvSpPr>
        <p:spPr>
          <a:xfrm>
            <a:off x="7406640" y="1591056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0"/>
          <p:cNvSpPr/>
          <p:nvPr/>
        </p:nvSpPr>
        <p:spPr>
          <a:xfrm>
            <a:off x="6217920" y="1847088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Platform &amp; Enterprise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0"/>
          <p:cNvSpPr/>
          <p:nvPr/>
        </p:nvSpPr>
        <p:spPr>
          <a:xfrm>
            <a:off x="6217920" y="2267712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D97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D97E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9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macOS + Linux agent release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0"/>
          <p:cNvSpPr/>
          <p:nvPr/>
        </p:nvSpPr>
        <p:spPr>
          <a:xfrm>
            <a:off x="6217920" y="2670048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D97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D97E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9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Multi-device team dashboard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0"/>
          <p:cNvSpPr/>
          <p:nvPr/>
        </p:nvSpPr>
        <p:spPr>
          <a:xfrm>
            <a:off x="6217920" y="3072384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D97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D97E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9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Enterprise seat licensing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0"/>
          <p:cNvSpPr/>
          <p:nvPr/>
        </p:nvSpPr>
        <p:spPr>
          <a:xfrm>
            <a:off x="6217920" y="3474720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D97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D97E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9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Channel partner programme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0"/>
          <p:cNvSpPr/>
          <p:nvPr/>
        </p:nvSpPr>
        <p:spPr>
          <a:xfrm>
            <a:off x="6217920" y="3877056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D97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D97E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9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Target: $250K ARR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F1F3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0"/>
          <p:cNvSpPr/>
          <p:nvPr/>
        </p:nvSpPr>
        <p:spPr>
          <a:xfrm>
            <a:off x="365760" y="491032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ZYVARON  ·  CONFIDENTIAL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0"/>
          <p:cNvSpPr/>
          <p:nvPr/>
        </p:nvSpPr>
        <p:spPr>
          <a:xfrm>
            <a:off x="8046720" y="4910328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10 / 14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C14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1"/>
          <p:cNvSpPr/>
          <p:nvPr/>
        </p:nvSpPr>
        <p:spPr>
          <a:xfrm>
            <a:off x="457200" y="320040"/>
            <a:ext cx="1124712" cy="237744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0D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1"/>
          <p:cNvSpPr/>
          <p:nvPr/>
        </p:nvSpPr>
        <p:spPr>
          <a:xfrm>
            <a:off x="466344" y="315468"/>
            <a:ext cx="11064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7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D97E"/>
                </a:solidFill>
                <a:latin typeface="Calibri"/>
                <a:ea typeface="Calibri"/>
                <a:cs typeface="Calibri"/>
                <a:sym typeface="Calibri"/>
              </a:rPr>
              <a:t>FINANCIALS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Lean model. High-margin SaaS.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83" name="Google Shape;483;p11"/>
          <p:cNvGraphicFramePr/>
          <p:nvPr/>
        </p:nvGraphicFramePr>
        <p:xfrm>
          <a:off x="411480" y="1371600"/>
          <a:ext cx="5029200" cy="32918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484" name="Google Shape;484;p11"/>
          <p:cNvSpPr/>
          <p:nvPr/>
        </p:nvSpPr>
        <p:spPr>
          <a:xfrm>
            <a:off x="5760720" y="1417320"/>
            <a:ext cx="2971800" cy="457200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1"/>
          <p:cNvSpPr/>
          <p:nvPr/>
        </p:nvSpPr>
        <p:spPr>
          <a:xfrm>
            <a:off x="5760720" y="1417320"/>
            <a:ext cx="36576" cy="457200"/>
          </a:xfrm>
          <a:prstGeom prst="rect">
            <a:avLst/>
          </a:prstGeom>
          <a:solidFill>
            <a:srgbClr val="1A6BFF"/>
          </a:solidFill>
          <a:ln cap="flat" cmpd="sng" w="12700">
            <a:solidFill>
              <a:srgbClr val="1A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1"/>
          <p:cNvSpPr/>
          <p:nvPr/>
        </p:nvSpPr>
        <p:spPr>
          <a:xfrm>
            <a:off x="5925312" y="1453896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$45K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1"/>
          <p:cNvSpPr/>
          <p:nvPr/>
        </p:nvSpPr>
        <p:spPr>
          <a:xfrm>
            <a:off x="6995160" y="150876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Year 1 ARR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1"/>
          <p:cNvSpPr/>
          <p:nvPr/>
        </p:nvSpPr>
        <p:spPr>
          <a:xfrm>
            <a:off x="5760720" y="1965960"/>
            <a:ext cx="2971800" cy="457200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1"/>
          <p:cNvSpPr/>
          <p:nvPr/>
        </p:nvSpPr>
        <p:spPr>
          <a:xfrm>
            <a:off x="5760720" y="1965960"/>
            <a:ext cx="36576" cy="45720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1"/>
          <p:cNvSpPr/>
          <p:nvPr/>
        </p:nvSpPr>
        <p:spPr>
          <a:xfrm>
            <a:off x="5925312" y="2002536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$250K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1"/>
          <p:cNvSpPr/>
          <p:nvPr/>
        </p:nvSpPr>
        <p:spPr>
          <a:xfrm>
            <a:off x="6995160" y="205740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Year 2 ARR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1"/>
          <p:cNvSpPr/>
          <p:nvPr/>
        </p:nvSpPr>
        <p:spPr>
          <a:xfrm>
            <a:off x="5760720" y="2514600"/>
            <a:ext cx="2971800" cy="457200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1"/>
          <p:cNvSpPr/>
          <p:nvPr/>
        </p:nvSpPr>
        <p:spPr>
          <a:xfrm>
            <a:off x="5760720" y="2514600"/>
            <a:ext cx="36576" cy="457200"/>
          </a:xfrm>
          <a:prstGeom prst="rect">
            <a:avLst/>
          </a:prstGeom>
          <a:solidFill>
            <a:srgbClr val="00D97E"/>
          </a:solidFill>
          <a:ln cap="flat" cmpd="sng" w="12700">
            <a:solidFill>
              <a:srgbClr val="00D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1"/>
          <p:cNvSpPr/>
          <p:nvPr/>
        </p:nvSpPr>
        <p:spPr>
          <a:xfrm>
            <a:off x="5925312" y="2551176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7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D97E"/>
                </a:solidFill>
                <a:latin typeface="Calibri"/>
                <a:ea typeface="Calibri"/>
                <a:cs typeface="Calibri"/>
                <a:sym typeface="Calibri"/>
              </a:rPr>
              <a:t>$850K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1"/>
          <p:cNvSpPr/>
          <p:nvPr/>
        </p:nvSpPr>
        <p:spPr>
          <a:xfrm>
            <a:off x="6995160" y="260604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Year 3 ARR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1"/>
          <p:cNvSpPr/>
          <p:nvPr/>
        </p:nvSpPr>
        <p:spPr>
          <a:xfrm>
            <a:off x="5760720" y="3063240"/>
            <a:ext cx="2971800" cy="457200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1"/>
          <p:cNvSpPr/>
          <p:nvPr/>
        </p:nvSpPr>
        <p:spPr>
          <a:xfrm>
            <a:off x="5760720" y="3063240"/>
            <a:ext cx="36576" cy="4572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1"/>
          <p:cNvSpPr/>
          <p:nvPr/>
        </p:nvSpPr>
        <p:spPr>
          <a:xfrm>
            <a:off x="5925312" y="3099816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~82%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1"/>
          <p:cNvSpPr/>
          <p:nvPr/>
        </p:nvSpPr>
        <p:spPr>
          <a:xfrm>
            <a:off x="6995160" y="315468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Gross Margin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1"/>
          <p:cNvSpPr/>
          <p:nvPr/>
        </p:nvSpPr>
        <p:spPr>
          <a:xfrm>
            <a:off x="5760720" y="3611880"/>
            <a:ext cx="2971800" cy="457200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1"/>
          <p:cNvSpPr/>
          <p:nvPr/>
        </p:nvSpPr>
        <p:spPr>
          <a:xfrm>
            <a:off x="5760720" y="3611880"/>
            <a:ext cx="36576" cy="457200"/>
          </a:xfrm>
          <a:prstGeom prst="rect">
            <a:avLst/>
          </a:prstGeom>
          <a:solidFill>
            <a:srgbClr val="B8C8E0"/>
          </a:solidFill>
          <a:ln cap="flat" cmpd="sng" w="12700">
            <a:solidFill>
              <a:srgbClr val="B8C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1"/>
          <p:cNvSpPr/>
          <p:nvPr/>
        </p:nvSpPr>
        <p:spPr>
          <a:xfrm>
            <a:off x="5925312" y="3648456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&lt;$4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1"/>
          <p:cNvSpPr/>
          <p:nvPr/>
        </p:nvSpPr>
        <p:spPr>
          <a:xfrm>
            <a:off x="6995160" y="370332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CAC (organic)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1"/>
          <p:cNvSpPr/>
          <p:nvPr/>
        </p:nvSpPr>
        <p:spPr>
          <a:xfrm>
            <a:off x="5760720" y="4160520"/>
            <a:ext cx="2971800" cy="457200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1"/>
          <p:cNvSpPr/>
          <p:nvPr/>
        </p:nvSpPr>
        <p:spPr>
          <a:xfrm>
            <a:off x="5760720" y="4160520"/>
            <a:ext cx="36576" cy="457200"/>
          </a:xfrm>
          <a:prstGeom prst="rect">
            <a:avLst/>
          </a:prstGeom>
          <a:solidFill>
            <a:srgbClr val="00D97E"/>
          </a:solidFill>
          <a:ln cap="flat" cmpd="sng" w="12700">
            <a:solidFill>
              <a:srgbClr val="00D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1"/>
          <p:cNvSpPr/>
          <p:nvPr/>
        </p:nvSpPr>
        <p:spPr>
          <a:xfrm>
            <a:off x="5925312" y="4197096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7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D97E"/>
                </a:solidFill>
                <a:latin typeface="Calibri"/>
                <a:ea typeface="Calibri"/>
                <a:cs typeface="Calibri"/>
                <a:sym typeface="Calibri"/>
              </a:rPr>
              <a:t>&gt;40×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1"/>
          <p:cNvSpPr/>
          <p:nvPr/>
        </p:nvSpPr>
        <p:spPr>
          <a:xfrm>
            <a:off x="6995160" y="425196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LTV:CAC ratio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F1F3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1"/>
          <p:cNvSpPr/>
          <p:nvPr/>
        </p:nvSpPr>
        <p:spPr>
          <a:xfrm>
            <a:off x="365760" y="491032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ZYVARON  ·  CONFIDENTIAL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1"/>
          <p:cNvSpPr/>
          <p:nvPr/>
        </p:nvSpPr>
        <p:spPr>
          <a:xfrm>
            <a:off x="8046720" y="4910328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11 / 14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C14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2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1A6BFF">
              <a:alpha val="7058"/>
            </a:srgbClr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2"/>
          <p:cNvSpPr/>
          <p:nvPr/>
        </p:nvSpPr>
        <p:spPr>
          <a:xfrm>
            <a:off x="457200" y="320040"/>
            <a:ext cx="864108" cy="237744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2"/>
          <p:cNvSpPr/>
          <p:nvPr/>
        </p:nvSpPr>
        <p:spPr>
          <a:xfrm>
            <a:off x="466344" y="315468"/>
            <a:ext cx="8458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THE ASK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Seed Round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2"/>
          <p:cNvSpPr/>
          <p:nvPr/>
        </p:nvSpPr>
        <p:spPr>
          <a:xfrm>
            <a:off x="411480" y="1417320"/>
            <a:ext cx="3840480" cy="1463040"/>
          </a:xfrm>
          <a:prstGeom prst="rect">
            <a:avLst/>
          </a:prstGeom>
          <a:solidFill>
            <a:srgbClr val="0A1628"/>
          </a:solidFill>
          <a:ln cap="flat" cmpd="sng" w="19050">
            <a:solidFill>
              <a:srgbClr val="1A6B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rotWithShape="0" algn="bl" dir="8100000" dist="50800">
              <a:srgbClr val="1A6BFF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2"/>
          <p:cNvSpPr/>
          <p:nvPr/>
        </p:nvSpPr>
        <p:spPr>
          <a:xfrm>
            <a:off x="411480" y="1417320"/>
            <a:ext cx="3840480" cy="45720"/>
          </a:xfrm>
          <a:prstGeom prst="rect">
            <a:avLst/>
          </a:prstGeom>
          <a:solidFill>
            <a:srgbClr val="1A6BFF"/>
          </a:solidFill>
          <a:ln cap="flat" cmpd="sng" w="12700">
            <a:solidFill>
              <a:srgbClr val="1A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2"/>
          <p:cNvSpPr/>
          <p:nvPr/>
        </p:nvSpPr>
        <p:spPr>
          <a:xfrm>
            <a:off x="502920" y="1508760"/>
            <a:ext cx="3657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B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$</a:t>
            </a:r>
            <a:r>
              <a:rPr b="1" lang="en-US" sz="5200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300</a:t>
            </a:r>
            <a:r>
              <a:rPr b="1" i="0" lang="en-US" sz="5200" u="none" cap="none" strike="noStrike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,000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2"/>
          <p:cNvSpPr/>
          <p:nvPr/>
        </p:nvSpPr>
        <p:spPr>
          <a:xfrm>
            <a:off x="502920" y="230428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SEED INVESTMENT TARGET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2"/>
          <p:cNvSpPr/>
          <p:nvPr/>
        </p:nvSpPr>
        <p:spPr>
          <a:xfrm>
            <a:off x="411480" y="3063240"/>
            <a:ext cx="3840480" cy="329184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2"/>
          <p:cNvSpPr/>
          <p:nvPr/>
        </p:nvSpPr>
        <p:spPr>
          <a:xfrm>
            <a:off x="548640" y="3063240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Instrument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2"/>
          <p:cNvSpPr/>
          <p:nvPr/>
        </p:nvSpPr>
        <p:spPr>
          <a:xfrm>
            <a:off x="2286000" y="3063240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SAFE / Convertible Note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2"/>
          <p:cNvSpPr/>
          <p:nvPr/>
        </p:nvSpPr>
        <p:spPr>
          <a:xfrm>
            <a:off x="411480" y="3447288"/>
            <a:ext cx="3840480" cy="329184"/>
          </a:xfrm>
          <a:prstGeom prst="rect">
            <a:avLst/>
          </a:prstGeom>
          <a:solidFill>
            <a:srgbClr val="070C14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2"/>
          <p:cNvSpPr/>
          <p:nvPr/>
        </p:nvSpPr>
        <p:spPr>
          <a:xfrm>
            <a:off x="548640" y="3447288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Valuation Cap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2"/>
          <p:cNvSpPr/>
          <p:nvPr/>
        </p:nvSpPr>
        <p:spPr>
          <a:xfrm>
            <a:off x="2286000" y="3447288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$</a:t>
            </a:r>
            <a:r>
              <a:rPr b="1" lang="en-US" sz="1000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i="0" lang="en-US" sz="10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2"/>
          <p:cNvSpPr/>
          <p:nvPr/>
        </p:nvSpPr>
        <p:spPr>
          <a:xfrm>
            <a:off x="411480" y="3831336"/>
            <a:ext cx="3840480" cy="329184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2"/>
          <p:cNvSpPr/>
          <p:nvPr/>
        </p:nvSpPr>
        <p:spPr>
          <a:xfrm>
            <a:off x="548640" y="3831336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Discount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2"/>
          <p:cNvSpPr/>
          <p:nvPr/>
        </p:nvSpPr>
        <p:spPr>
          <a:xfrm>
            <a:off x="2286000" y="3831336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2"/>
          <p:cNvSpPr/>
          <p:nvPr/>
        </p:nvSpPr>
        <p:spPr>
          <a:xfrm>
            <a:off x="411480" y="4215384"/>
            <a:ext cx="3840480" cy="329184"/>
          </a:xfrm>
          <a:prstGeom prst="rect">
            <a:avLst/>
          </a:prstGeom>
          <a:solidFill>
            <a:srgbClr val="070C14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2"/>
          <p:cNvSpPr/>
          <p:nvPr/>
        </p:nvSpPr>
        <p:spPr>
          <a:xfrm>
            <a:off x="548640" y="4215384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Min. Ticket Size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2"/>
          <p:cNvSpPr/>
          <p:nvPr/>
        </p:nvSpPr>
        <p:spPr>
          <a:xfrm>
            <a:off x="2286000" y="4215384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$25,000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36" name="Google Shape;536;p12"/>
          <p:cNvGraphicFramePr/>
          <p:nvPr/>
        </p:nvGraphicFramePr>
        <p:xfrm>
          <a:off x="4572000" y="1417320"/>
          <a:ext cx="4206240" cy="292608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537" name="Google Shape;537;p1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F1F3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2"/>
          <p:cNvSpPr/>
          <p:nvPr/>
        </p:nvSpPr>
        <p:spPr>
          <a:xfrm>
            <a:off x="365760" y="491032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ZYVARON  ·  CONFIDENTIAL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2"/>
          <p:cNvSpPr/>
          <p:nvPr/>
        </p:nvSpPr>
        <p:spPr>
          <a:xfrm>
            <a:off x="8046720" y="4910328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12 / 14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C14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3"/>
          <p:cNvSpPr/>
          <p:nvPr/>
        </p:nvSpPr>
        <p:spPr>
          <a:xfrm>
            <a:off x="457200" y="320040"/>
            <a:ext cx="603504" cy="237744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1A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3"/>
          <p:cNvSpPr/>
          <p:nvPr/>
        </p:nvSpPr>
        <p:spPr>
          <a:xfrm>
            <a:off x="466344" y="315468"/>
            <a:ext cx="58521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3"/>
          <p:cNvSpPr/>
          <p:nvPr/>
        </p:nvSpPr>
        <p:spPr>
          <a:xfrm>
            <a:off x="457200" y="621792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Built by people who understand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both security and software.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3"/>
          <p:cNvSpPr/>
          <p:nvPr/>
        </p:nvSpPr>
        <p:spPr>
          <a:xfrm>
            <a:off x="805348" y="1865400"/>
            <a:ext cx="2679300" cy="2926200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3"/>
          <p:cNvSpPr/>
          <p:nvPr/>
        </p:nvSpPr>
        <p:spPr>
          <a:xfrm>
            <a:off x="805348" y="1865400"/>
            <a:ext cx="2679300" cy="36600"/>
          </a:xfrm>
          <a:prstGeom prst="rect">
            <a:avLst/>
          </a:prstGeom>
          <a:solidFill>
            <a:srgbClr val="1A6BFF"/>
          </a:solidFill>
          <a:ln cap="flat" cmpd="sng" w="12700">
            <a:solidFill>
              <a:srgbClr val="1A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3"/>
          <p:cNvSpPr/>
          <p:nvPr/>
        </p:nvSpPr>
        <p:spPr>
          <a:xfrm>
            <a:off x="1261150" y="2039350"/>
            <a:ext cx="17583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B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Daniel Salami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3"/>
          <p:cNvSpPr/>
          <p:nvPr/>
        </p:nvSpPr>
        <p:spPr>
          <a:xfrm>
            <a:off x="915076" y="2779800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Founder &amp; CEO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3"/>
          <p:cNvSpPr/>
          <p:nvPr/>
        </p:nvSpPr>
        <p:spPr>
          <a:xfrm>
            <a:off x="915076" y="3054120"/>
            <a:ext cx="246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B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Full-Stack Security Engineer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3"/>
          <p:cNvSpPr/>
          <p:nvPr/>
        </p:nvSpPr>
        <p:spPr>
          <a:xfrm>
            <a:off x="915076" y="3310152"/>
            <a:ext cx="246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Built ZYVARON from scratch — Python agent, FastAPI server, React dashboard, CVE scanner, and threat remediation engine. Deep expertise in Windows security, network protocols, and autonomous systems.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3"/>
          <p:cNvSpPr/>
          <p:nvPr/>
        </p:nvSpPr>
        <p:spPr>
          <a:xfrm>
            <a:off x="915076" y="4261128"/>
            <a:ext cx="612600" cy="201300"/>
          </a:xfrm>
          <a:prstGeom prst="rect">
            <a:avLst/>
          </a:prstGeom>
          <a:solidFill>
            <a:srgbClr val="0F1F38"/>
          </a:solidFill>
          <a:ln cap="flat" cmpd="sng" w="9525">
            <a:solidFill>
              <a:srgbClr val="1A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3"/>
          <p:cNvSpPr/>
          <p:nvPr/>
        </p:nvSpPr>
        <p:spPr>
          <a:xfrm>
            <a:off x="915076" y="4261128"/>
            <a:ext cx="612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B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3"/>
          <p:cNvSpPr/>
          <p:nvPr/>
        </p:nvSpPr>
        <p:spPr>
          <a:xfrm>
            <a:off x="2240956" y="4261128"/>
            <a:ext cx="681300" cy="201300"/>
          </a:xfrm>
          <a:prstGeom prst="rect">
            <a:avLst/>
          </a:prstGeom>
          <a:solidFill>
            <a:srgbClr val="0F1F38"/>
          </a:solidFill>
          <a:ln cap="flat" cmpd="sng" w="9525">
            <a:solidFill>
              <a:srgbClr val="1A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3"/>
          <p:cNvSpPr/>
          <p:nvPr/>
        </p:nvSpPr>
        <p:spPr>
          <a:xfrm>
            <a:off x="2240956" y="4261128"/>
            <a:ext cx="68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B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3"/>
          <p:cNvSpPr/>
          <p:nvPr/>
        </p:nvSpPr>
        <p:spPr>
          <a:xfrm>
            <a:off x="915076" y="4535448"/>
            <a:ext cx="1234500" cy="201300"/>
          </a:xfrm>
          <a:prstGeom prst="rect">
            <a:avLst/>
          </a:prstGeom>
          <a:solidFill>
            <a:srgbClr val="0F1F38"/>
          </a:solidFill>
          <a:ln cap="flat" cmpd="sng" w="9525">
            <a:solidFill>
              <a:srgbClr val="1A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3"/>
          <p:cNvSpPr/>
          <p:nvPr/>
        </p:nvSpPr>
        <p:spPr>
          <a:xfrm>
            <a:off x="915076" y="4535448"/>
            <a:ext cx="1234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B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Windows Security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3"/>
          <p:cNvSpPr/>
          <p:nvPr/>
        </p:nvSpPr>
        <p:spPr>
          <a:xfrm>
            <a:off x="2240956" y="4535448"/>
            <a:ext cx="1024200" cy="201300"/>
          </a:xfrm>
          <a:prstGeom prst="rect">
            <a:avLst/>
          </a:prstGeom>
          <a:solidFill>
            <a:srgbClr val="0F1F38"/>
          </a:solidFill>
          <a:ln cap="flat" cmpd="sng" w="9525">
            <a:solidFill>
              <a:srgbClr val="1A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3"/>
          <p:cNvSpPr/>
          <p:nvPr/>
        </p:nvSpPr>
        <p:spPr>
          <a:xfrm>
            <a:off x="2240956" y="4535448"/>
            <a:ext cx="1024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B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CVE Research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3"/>
          <p:cNvSpPr/>
          <p:nvPr/>
        </p:nvSpPr>
        <p:spPr>
          <a:xfrm>
            <a:off x="5615595" y="1808150"/>
            <a:ext cx="2679300" cy="2926200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3"/>
          <p:cNvSpPr/>
          <p:nvPr/>
        </p:nvSpPr>
        <p:spPr>
          <a:xfrm>
            <a:off x="5615595" y="1828788"/>
            <a:ext cx="2679300" cy="3660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3"/>
          <p:cNvSpPr/>
          <p:nvPr/>
        </p:nvSpPr>
        <p:spPr>
          <a:xfrm>
            <a:off x="6284746" y="2066538"/>
            <a:ext cx="13410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Abul Dubal Abel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3"/>
          <p:cNvSpPr/>
          <p:nvPr/>
        </p:nvSpPr>
        <p:spPr>
          <a:xfrm>
            <a:off x="5720748" y="2614975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CTO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3"/>
          <p:cNvSpPr/>
          <p:nvPr/>
        </p:nvSpPr>
        <p:spPr>
          <a:xfrm>
            <a:off x="5720811" y="2980770"/>
            <a:ext cx="246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Senior Security Engineer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3"/>
          <p:cNvSpPr/>
          <p:nvPr/>
        </p:nvSpPr>
        <p:spPr>
          <a:xfrm>
            <a:off x="5720800" y="3310150"/>
            <a:ext cx="2469000" cy="8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850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85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ackground in enterprise endpoint security, EDR systems,</a:t>
            </a:r>
            <a:r>
              <a:rPr lang="en-US" sz="850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85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 threat intelligence platforms. </a:t>
            </a:r>
            <a:r>
              <a:rPr lang="en-US" sz="850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A Python Developer.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3"/>
          <p:cNvSpPr/>
          <p:nvPr/>
        </p:nvSpPr>
        <p:spPr>
          <a:xfrm>
            <a:off x="5906650" y="4114625"/>
            <a:ext cx="406800" cy="201300"/>
          </a:xfrm>
          <a:prstGeom prst="rect">
            <a:avLst/>
          </a:prstGeom>
          <a:solidFill>
            <a:srgbClr val="0F1F38"/>
          </a:solidFill>
          <a:ln cap="flat" cmpd="sng" w="952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3"/>
          <p:cNvSpPr/>
          <p:nvPr/>
        </p:nvSpPr>
        <p:spPr>
          <a:xfrm>
            <a:off x="5906648" y="4114616"/>
            <a:ext cx="406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EDR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3"/>
          <p:cNvSpPr/>
          <p:nvPr/>
        </p:nvSpPr>
        <p:spPr>
          <a:xfrm>
            <a:off x="7165553" y="4114628"/>
            <a:ext cx="1024200" cy="201300"/>
          </a:xfrm>
          <a:prstGeom prst="rect">
            <a:avLst/>
          </a:prstGeom>
          <a:solidFill>
            <a:srgbClr val="0F1F38"/>
          </a:solidFill>
          <a:ln cap="flat" cmpd="sng" w="952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3"/>
          <p:cNvSpPr/>
          <p:nvPr/>
        </p:nvSpPr>
        <p:spPr>
          <a:xfrm>
            <a:off x="7022528" y="4114628"/>
            <a:ext cx="1024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Threat Intel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3"/>
          <p:cNvSpPr/>
          <p:nvPr/>
        </p:nvSpPr>
        <p:spPr>
          <a:xfrm>
            <a:off x="6120923" y="4450848"/>
            <a:ext cx="1234500" cy="201300"/>
          </a:xfrm>
          <a:prstGeom prst="rect">
            <a:avLst/>
          </a:prstGeom>
          <a:solidFill>
            <a:srgbClr val="0F1F38"/>
          </a:solidFill>
          <a:ln cap="flat" cmpd="sng" w="952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3"/>
          <p:cNvSpPr/>
          <p:nvPr/>
        </p:nvSpPr>
        <p:spPr>
          <a:xfrm>
            <a:off x="6170575" y="4450825"/>
            <a:ext cx="1135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Enterprise Security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F1F3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3"/>
          <p:cNvSpPr/>
          <p:nvPr/>
        </p:nvSpPr>
        <p:spPr>
          <a:xfrm>
            <a:off x="365760" y="491032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ZYVARON  ·  CONFIDENTIAL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3"/>
          <p:cNvSpPr/>
          <p:nvPr/>
        </p:nvSpPr>
        <p:spPr>
          <a:xfrm>
            <a:off x="8046720" y="4910328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13 / 14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50A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2" name="Google Shape;582;p14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3" name="Google Shape;583;p14"/>
          <p:cNvCxnSpPr/>
          <p:nvPr/>
        </p:nvCxnSpPr>
        <p:spPr>
          <a:xfrm>
            <a:off x="5486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4" name="Google Shape;584;p14"/>
          <p:cNvCxnSpPr/>
          <p:nvPr/>
        </p:nvCxnSpPr>
        <p:spPr>
          <a:xfrm>
            <a:off x="10972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5" name="Google Shape;585;p14"/>
          <p:cNvCxnSpPr/>
          <p:nvPr/>
        </p:nvCxnSpPr>
        <p:spPr>
          <a:xfrm>
            <a:off x="16459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6" name="Google Shape;586;p14"/>
          <p:cNvCxnSpPr/>
          <p:nvPr/>
        </p:nvCxnSpPr>
        <p:spPr>
          <a:xfrm>
            <a:off x="21945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7" name="Google Shape;587;p14"/>
          <p:cNvCxnSpPr/>
          <p:nvPr/>
        </p:nvCxnSpPr>
        <p:spPr>
          <a:xfrm>
            <a:off x="2743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8" name="Google Shape;588;p14"/>
          <p:cNvCxnSpPr/>
          <p:nvPr/>
        </p:nvCxnSpPr>
        <p:spPr>
          <a:xfrm>
            <a:off x="32918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9" name="Google Shape;589;p14"/>
          <p:cNvCxnSpPr/>
          <p:nvPr/>
        </p:nvCxnSpPr>
        <p:spPr>
          <a:xfrm>
            <a:off x="38404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0" name="Google Shape;590;p14"/>
          <p:cNvCxnSpPr/>
          <p:nvPr/>
        </p:nvCxnSpPr>
        <p:spPr>
          <a:xfrm>
            <a:off x="43891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1" name="Google Shape;591;p14"/>
          <p:cNvCxnSpPr/>
          <p:nvPr/>
        </p:nvCxnSpPr>
        <p:spPr>
          <a:xfrm>
            <a:off x="49377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2" name="Google Shape;592;p14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3" name="Google Shape;593;p14"/>
          <p:cNvCxnSpPr/>
          <p:nvPr/>
        </p:nvCxnSpPr>
        <p:spPr>
          <a:xfrm>
            <a:off x="60350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4" name="Google Shape;594;p14"/>
          <p:cNvCxnSpPr/>
          <p:nvPr/>
        </p:nvCxnSpPr>
        <p:spPr>
          <a:xfrm>
            <a:off x="65836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5" name="Google Shape;595;p14"/>
          <p:cNvCxnSpPr/>
          <p:nvPr/>
        </p:nvCxnSpPr>
        <p:spPr>
          <a:xfrm>
            <a:off x="71323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6" name="Google Shape;596;p14"/>
          <p:cNvCxnSpPr/>
          <p:nvPr/>
        </p:nvCxnSpPr>
        <p:spPr>
          <a:xfrm>
            <a:off x="76809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7" name="Google Shape;597;p14"/>
          <p:cNvCxnSpPr/>
          <p:nvPr/>
        </p:nvCxnSpPr>
        <p:spPr>
          <a:xfrm>
            <a:off x="8229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8" name="Google Shape;598;p14"/>
          <p:cNvCxnSpPr/>
          <p:nvPr/>
        </p:nvCxnSpPr>
        <p:spPr>
          <a:xfrm>
            <a:off x="87782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9" name="Google Shape;599;p14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0" name="Google Shape;600;p14"/>
          <p:cNvCxnSpPr/>
          <p:nvPr/>
        </p:nvCxnSpPr>
        <p:spPr>
          <a:xfrm>
            <a:off x="0" y="5486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1" name="Google Shape;601;p14"/>
          <p:cNvCxnSpPr/>
          <p:nvPr/>
        </p:nvCxnSpPr>
        <p:spPr>
          <a:xfrm>
            <a:off x="0" y="10972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2" name="Google Shape;602;p14"/>
          <p:cNvCxnSpPr/>
          <p:nvPr/>
        </p:nvCxnSpPr>
        <p:spPr>
          <a:xfrm>
            <a:off x="0" y="16459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3" name="Google Shape;603;p14"/>
          <p:cNvCxnSpPr/>
          <p:nvPr/>
        </p:nvCxnSpPr>
        <p:spPr>
          <a:xfrm>
            <a:off x="0" y="21945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4" name="Google Shape;604;p14"/>
          <p:cNvCxnSpPr/>
          <p:nvPr/>
        </p:nvCxnSpPr>
        <p:spPr>
          <a:xfrm>
            <a:off x="0" y="2743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5" name="Google Shape;605;p14"/>
          <p:cNvCxnSpPr/>
          <p:nvPr/>
        </p:nvCxnSpPr>
        <p:spPr>
          <a:xfrm>
            <a:off x="0" y="32918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6" name="Google Shape;606;p14"/>
          <p:cNvCxnSpPr/>
          <p:nvPr/>
        </p:nvCxnSpPr>
        <p:spPr>
          <a:xfrm>
            <a:off x="0" y="38404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7" name="Google Shape;607;p14"/>
          <p:cNvCxnSpPr/>
          <p:nvPr/>
        </p:nvCxnSpPr>
        <p:spPr>
          <a:xfrm>
            <a:off x="0" y="43891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8" name="Google Shape;608;p14"/>
          <p:cNvCxnSpPr/>
          <p:nvPr/>
        </p:nvCxnSpPr>
        <p:spPr>
          <a:xfrm>
            <a:off x="0" y="49377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D20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9" name="Google Shape;609;p14"/>
          <p:cNvSpPr/>
          <p:nvPr/>
        </p:nvSpPr>
        <p:spPr>
          <a:xfrm>
            <a:off x="1371600" y="457200"/>
            <a:ext cx="6400800" cy="4572000"/>
          </a:xfrm>
          <a:prstGeom prst="ellipse">
            <a:avLst/>
          </a:prstGeom>
          <a:solidFill>
            <a:srgbClr val="1A6BFF">
              <a:alpha val="7058"/>
            </a:srgbClr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4"/>
          <p:cNvSpPr/>
          <p:nvPr/>
        </p:nvSpPr>
        <p:spPr>
          <a:xfrm>
            <a:off x="640080" y="502920"/>
            <a:ext cx="78638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The future of cybersecurity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is autonomous.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4"/>
          <p:cNvSpPr/>
          <p:nvPr/>
        </p:nvSpPr>
        <p:spPr>
          <a:xfrm>
            <a:off x="914400" y="260604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C8E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B8C8E0"/>
                </a:solidFill>
                <a:latin typeface="Calibri"/>
                <a:ea typeface="Calibri"/>
                <a:cs typeface="Calibri"/>
                <a:sym typeface="Calibri"/>
              </a:rPr>
              <a:t>ZYVARON is already built, already working, and already protecting real computers today.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4"/>
          <p:cNvSpPr/>
          <p:nvPr/>
        </p:nvSpPr>
        <p:spPr>
          <a:xfrm>
            <a:off x="1371600" y="3291840"/>
            <a:ext cx="1920240" cy="594360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4"/>
          <p:cNvSpPr/>
          <p:nvPr/>
        </p:nvSpPr>
        <p:spPr>
          <a:xfrm>
            <a:off x="1371600" y="329184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✅  Working product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4"/>
          <p:cNvSpPr/>
          <p:nvPr/>
        </p:nvSpPr>
        <p:spPr>
          <a:xfrm>
            <a:off x="3657600" y="3291840"/>
            <a:ext cx="1920240" cy="594360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4"/>
          <p:cNvSpPr/>
          <p:nvPr/>
        </p:nvSpPr>
        <p:spPr>
          <a:xfrm>
            <a:off x="3657600" y="329184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📈  Large growing market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4"/>
          <p:cNvSpPr/>
          <p:nvPr/>
        </p:nvSpPr>
        <p:spPr>
          <a:xfrm>
            <a:off x="5943600" y="3291840"/>
            <a:ext cx="1920240" cy="594360"/>
          </a:xfrm>
          <a:prstGeom prst="rect">
            <a:avLst/>
          </a:prstGeom>
          <a:solidFill>
            <a:srgbClr val="0A1628"/>
          </a:solidFill>
          <a:ln cap="flat" cmpd="sng" w="9525">
            <a:solidFill>
              <a:srgbClr val="1A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4"/>
          <p:cNvSpPr/>
          <p:nvPr/>
        </p:nvSpPr>
        <p:spPr>
          <a:xfrm>
            <a:off x="5943600" y="329184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8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F8FF"/>
                </a:solidFill>
                <a:latin typeface="Calibri"/>
                <a:ea typeface="Calibri"/>
                <a:cs typeface="Calibri"/>
                <a:sym typeface="Calibri"/>
              </a:rPr>
              <a:t>💡  Unique approach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4"/>
          <p:cNvSpPr/>
          <p:nvPr/>
        </p:nvSpPr>
        <p:spPr>
          <a:xfrm>
            <a:off x="1371600" y="40690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B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6BFF"/>
                </a:solidFill>
                <a:latin typeface="Calibri"/>
                <a:ea typeface="Calibri"/>
                <a:cs typeface="Calibri"/>
                <a:sym typeface="Calibri"/>
              </a:rPr>
              <a:t>hello@zyvaron.com  ·  zyvaron.com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4"/>
          <p:cNvSpPr/>
          <p:nvPr/>
        </p:nvSpPr>
        <p:spPr>
          <a:xfrm>
            <a:off x="1371600" y="448056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Defend Everything.  Recover Anything.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F1F38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4"/>
          <p:cNvSpPr/>
          <p:nvPr/>
        </p:nvSpPr>
        <p:spPr>
          <a:xfrm>
            <a:off x="365760" y="491032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ZYVARON  ·  CONFIDENTIAL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4"/>
          <p:cNvSpPr/>
          <p:nvPr/>
        </p:nvSpPr>
        <p:spPr>
          <a:xfrm>
            <a:off x="8046720" y="4910328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A85A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A85A8"/>
                </a:solidFill>
                <a:latin typeface="Calibri"/>
                <a:ea typeface="Calibri"/>
                <a:cs typeface="Calibri"/>
                <a:sym typeface="Calibri"/>
              </a:rPr>
              <a:t>14 / 14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2026-04-13T19:19:22Z</dcterms:created>
  <dc:creator>ZYVARON</dc:creator>
</cp:coreProperties>
</file>